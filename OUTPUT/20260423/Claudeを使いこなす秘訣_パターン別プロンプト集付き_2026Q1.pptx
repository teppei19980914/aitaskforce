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eiryo UI"/>
                <a:ea typeface="Meiryo UI"/>
              </a:rPr>
              <a:t>Claude 社内活用ガイド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eiryo UI"/>
                <a:ea typeface="Meiryo UI"/>
              </a:rPr>
              <a:t>Anthropic 公式ドキュメント準拠 — ベストプラクティス厳選版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eiryo UI"/>
                <a:ea typeface="Meiryo UI"/>
              </a:rPr>
              <a:t>情報源: Anthropic 公式 Best Practices for Claude Code / Prompting best practices for Claude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本資料について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Meiryo UI"/>
                <a:ea typeface="Meiryo UI"/>
              </a:rPr>
              <a:t>目的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eiryo UI"/>
                <a:ea typeface="Meiryo UI"/>
              </a:rPr>
              <a:t>社内で Claude を効率的に活用するための公式ベストプラクティスを共有する。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Meiryo UI"/>
                <a:ea typeface="Meiryo UI"/>
              </a:rPr>
              <a:t>情報源（すべて Anthropic 公式）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eiryo UI"/>
                <a:ea typeface="Meiryo UI"/>
              </a:rPr>
              <a:t>・Best Practices for Claude Code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eiryo UI"/>
                <a:ea typeface="Meiryo UI"/>
              </a:rPr>
              <a:t>・Prompting best practices for Claude 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Meiryo UI"/>
                <a:ea typeface="Meiryo UI"/>
              </a:rPr>
              <a:t>・Prompt engineering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A5F"/>
                </a:solidFill>
                <a:latin typeface="Meiryo UI"/>
                <a:ea typeface="Meiryo UI"/>
              </a:rPr>
              <a:t>信頼度の凡例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E8B57"/>
                </a:solidFill>
                <a:latin typeface="Meiryo UI"/>
                <a:ea typeface="Meiryo UI"/>
              </a:rPr>
              <a:t>🟢 公式引用 — 公式ドキュメントの原文を直接引用・翻訳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4A10E"/>
                </a:solidFill>
                <a:latin typeface="Meiryo UI"/>
                <a:ea typeface="Meiryo UI"/>
              </a:rPr>
              <a:t>🟡 公式記述 — 公式ドキュメントに記載された技術・機能・手順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※ 本資料は主観的な評価・独自解釈を含みません。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Claude 活用の最重要3原則 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Meiryo UI"/>
                <a:ea typeface="Meiryo UI"/>
              </a:rPr>
              <a:t>Anthropic 公式が明言する3つの原則。特に原則3は「単独で最も効果が大きい」と明記。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749039" cy="4297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749039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47471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 UI"/>
                <a:ea typeface="Meiryo UI"/>
              </a:rPr>
              <a:t>①
ゴールデンルール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具体化の法則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47471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文脈を持たない同僚が迷わず実行できるプロンプトを書く。曖昧なら Claude も迷う。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347471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6666"/>
                </a:solidFill>
                <a:latin typeface="Meiryo UI"/>
                <a:ea typeface="Meiryo UI"/>
              </a:rPr>
              <a:t>公式原文: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Meiryo UI"/>
                <a:ea typeface="Meiryo UI"/>
              </a:rPr>
              <a:t>"Show your prompt to a colleague with minimal context... If they'd be confused, Claude will be too."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1463040"/>
            <a:ext cx="3749039" cy="4297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19" y="1463040"/>
            <a:ext cx="3749039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1554480"/>
            <a:ext cx="347471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 UI"/>
                <a:ea typeface="Meiryo UI"/>
              </a:rPr>
              <a:t>②
コンテキスト管理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1460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根本制約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926080"/>
            <a:ext cx="347471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コンテキストが埋まると性能が劣化する。タスク切替時は /clear、2回失敗したら新セッション。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206240"/>
            <a:ext cx="347471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6666"/>
                </a:solidFill>
                <a:latin typeface="Meiryo UI"/>
                <a:ea typeface="Meiryo UI"/>
              </a:rPr>
              <a:t>公式原文: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Meiryo UI"/>
                <a:ea typeface="Meiryo UI"/>
              </a:rPr>
              <a:t>"Claude's context window fills up fast, and performance degrades as it fills."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38" y="1463040"/>
            <a:ext cx="3749039" cy="4297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38" y="1463040"/>
            <a:ext cx="3749039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198" y="1554480"/>
            <a:ext cx="347471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 UI"/>
                <a:ea typeface="Meiryo UI"/>
              </a:rPr>
              <a:t>③
検証手段の提供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8" y="251460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最高優先度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2926080"/>
            <a:ext cx="347471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テスト・期待出力・スクリーンショットを添えると Claude は自己検証できる。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4206240"/>
            <a:ext cx="347471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6666"/>
                </a:solidFill>
                <a:latin typeface="Meiryo UI"/>
                <a:ea typeface="Meiryo UI"/>
              </a:rPr>
              <a:t>公式原文: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Meiryo UI"/>
                <a:ea typeface="Meiryo UI"/>
              </a:rPr>
              <a:t>"Include tests, screenshots, or expected outputs so Claude can check itself. This is the single highest-leverage thing you can do."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 (Anthropic 公式)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推奨ワークフロー &amp; 指示の質を上げる5技法 🟢🟡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推奨ワークフロー（公式推奨 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1. Explore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459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既存コード・資料を読み、理解する（変更しない）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3716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2.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4231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Claude に実装計画を作らせ、人間が承認する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3716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3.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2004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計画に沿って実装し、テストで検証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371600" cy="685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4.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9776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意図単位でコミット・PR 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14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指示の質を上げる5技法（公式記載 🟡）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1645920" cy="68580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CLAUDE.md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64592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プロジェクトルールの永続化。肥大化は禁物。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1645920" cy="68580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4231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動機を添える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4231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「なぜ」を説明すると Claude は一般化できる。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17520"/>
            <a:ext cx="1645920" cy="68580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XML タグ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2004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指示・文脈・例・入力を明確に分離。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794760"/>
            <a:ext cx="1645920" cy="68580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Few-shot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9776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3〜5個の例で出力形式・トーンを示す。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572000"/>
            <a:ext cx="1645920" cy="68580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</a:rPr>
              <a:t>長文配置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75488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長文を先、質問を後ろに置くと最大30%向上。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 / Prompting best practices for Claude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プレゼン資料 — 構成案・目次の生成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Claude に逆インタビューさせる（AskUserQuestion）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Best Practices for Claude Code — "For larger features, have Claude interview you first."）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以下の前提で全社向けプレゼン資料の構成案を作成したい。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いきなり案を出さず、まず AskUserQuestion ツールで私にインタビューしてください。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【前提】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テーマ: {{テーマ}}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聴衆: {{役員 / 管理職 / 全社員}}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発表時間: {{N}} 分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期待する成果: {{意思決定 / 情報共有 / 行動促進}}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聴衆・目的・成果物の形式など、抜けそうな観点を深掘りしてください。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十分に情報が集まったら、目次と各スライドの 1 行要約を提示してください。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518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※ </a:t>
            </a:r>
            <a:r>
              <a:rPr sz="1000" b="0" dirty="0" err="1">
                <a:solidFill>
                  <a:srgbClr val="666666"/>
                </a:solidFill>
                <a:latin typeface="Meiryo UI"/>
                <a:ea typeface="Meiryo UI"/>
              </a:rPr>
              <a:t>公式</a:t>
            </a: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: </a:t>
            </a:r>
            <a:r>
              <a:rPr sz="1000" b="0" dirty="0" err="1">
                <a:solidFill>
                  <a:srgbClr val="666666"/>
                </a:solidFill>
                <a:latin typeface="Meiryo UI"/>
                <a:ea typeface="Meiryo UI"/>
              </a:rPr>
              <a:t>大きな機能は</a:t>
            </a: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 Claude </a:t>
            </a:r>
            <a:r>
              <a:rPr sz="1000" b="0" dirty="0" err="1">
                <a:solidFill>
                  <a:srgbClr val="666666"/>
                </a:solidFill>
                <a:latin typeface="Meiryo UI"/>
                <a:ea typeface="Meiryo UI"/>
              </a:rPr>
              <a:t>に逆質問させて要件を固めるのが推奨パターン</a:t>
            </a: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長文ドキュメントのエグゼクティブサマリー化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長文は先・質問は後（最大30%品質向上）+ 引用を先に挟む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"Queries at the end can improve response quality by up to 30% in tests."）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&lt;documents&gt;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&lt;document index="1"&gt;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  &lt;source&gt;{{ファイル名}}&lt;/source&gt;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  &lt;document_content&gt;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{{長文をここに貼り付け}}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  &lt;/document_content&gt;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&lt;/document&gt;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&lt;/documents&gt;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上記の文書から、役員向けのエグゼクティブサマリーを作成してください。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【手順】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1. まず文書内から重要な主張・数値・結論を原文のまま引用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2. 引用をもとに 3 行サマリー、主要論点 5 個、アクション提案 3 個を提示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3. 事実と筆者主張を明確に区別する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518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※ </a:t>
            </a:r>
            <a:r>
              <a:rPr sz="1000" b="0" dirty="0" err="1">
                <a:solidFill>
                  <a:srgbClr val="666666"/>
                </a:solidFill>
                <a:latin typeface="Meiryo UI"/>
                <a:ea typeface="Meiryo UI"/>
              </a:rPr>
              <a:t>公式</a:t>
            </a: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: </a:t>
            </a:r>
            <a:r>
              <a:rPr sz="1000" b="0" dirty="0" err="1">
                <a:solidFill>
                  <a:srgbClr val="666666"/>
                </a:solidFill>
                <a:latin typeface="Meiryo UI"/>
                <a:ea typeface="Meiryo UI"/>
              </a:rPr>
              <a:t>長文タスクでは「まず関連箇所を引用させる」と精度が上がる</a:t>
            </a:r>
            <a:r>
              <a:rPr sz="1000" b="0" dirty="0">
                <a:solidFill>
                  <a:srgbClr val="666666"/>
                </a:solidFill>
                <a:latin typeface="Meiryo UI"/>
                <a:ea typeface="Meiryo U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スライド原稿 → トークスクリプト変換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動機・文脈を明示する（Providing context or motivation）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"Providing context or motivation behind your instructions can help Claude deliver more targeted responses."）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以下のスライド原稿を、プレゼン本番で話すトークスクリプトに変換してください。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【文脈】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聴衆: {{経営層 / 全社員}}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- 1 スライドあたりの所要時間: {{N}} 分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スクリプトは実際に音読されるため、記号（・/※/―）の多用は避けること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【出力構造】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スライド番号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話すセリフ（ですます調）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強調する箇所（太字で明示）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聴衆の反応を想定した間合い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{{スライド原稿}}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公式の "read aloud by a text-to-speech engine" 例と同様、用途を伝えれば出力が最適化される。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比較表・データテーブルの自動生成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Few-shot で出力形式を固定（Examples are one of the most reliable ways）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"Examples are one of the most reliable ways to steer Claude's output format, tone, and structure."）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以下の情報から、経営会議向けの比較表を作成してください。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【比較対象】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{{A案}}: {{説明}}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{{B案}}: {{説明}}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{{C案}}: {{説明}}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【比較軸】初期投資 / 運用コスト / 期待効果 / リスク / 実装期間 / 推奨度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【出力形式（この表形式に厳密に従う）】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| 項目 | A案 | B案 | C案 |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|---|---|---|---|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| 初期投資 | … | … | … |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数値は推測ではなく提供情報に基づくこと。不明な場合は「要確認」と明記。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公式推奨個数は 3〜5 個の例。出力形式例を 1 つ明示するだけでも効果は大きい。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聴衆に合わせたトーン調整・校正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動機を添える + CLAUDE.md の「IMPORTANT」「YOU MUST」で遵守率向上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"You can tune instructions by adding emphasis... to improve adherence."）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以下の文章を、{{役員向け / 全社員向け / 顧客向け}} のトーンに調整してください。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【文脈】この文章はプレゼンの冒頭 5 分で使用します。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【IMPORTANT: 以下を必ず守ること】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専門用語は初出時に必ず補足する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結論から先に書く（PREP 法）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感情的な表現（素晴らしい / 絶対 / 最高）は避ける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主語を明確にする（弊社は / 当部は）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【出力】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1. 修正前後を diff 形式で提示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2. 修正理由を各箇所に併記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{{対象の文章}}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公式明言: 「IMPORTANT」「YOU MUST」の強調は遵守率を上げる。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プレゼン後の Q&amp;A 想定集作成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Writer/Reviewer パターン（別コンテキストで批判的視点を得る）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Best Practices for Claude Code — "A fresh context improves code review since Claude won't be biased toward code it just wrote."）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以下のプレゼン資料に対して、意図的に批判的な視点で想定 Q&amp;A を作成してください。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【想定する聴衆】{{役員 / 経営企画 / 現場管理職 / 労働組合}}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【想定すべき観点】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前提への疑問（その数値の根拠は？）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リスク・副作用（失敗したらどうなる？）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代替案との比較（なぜこの案を選んだ？）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コスト・人員・タイムラインの妥当性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【出力】質問（10 問以上）/ 想定質問者の立場 / 回答ドラフト / 追加資料の要否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優しさより正確さを優先すること。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{{プレゼン資料本文}}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公式推奨: レビューは「自分のコードを書いた直後の Claude」ではなく別セッションに依頼する。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意思決定の壁打ち・批判的レビュー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動機・価値観を明示する + Writer/Reviewer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motivation + Best Practices for Claude Code — fresh context）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{{意思決定事項}} について判断が必要です。結論を急がず、以下の順序で対応してください。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【Step 1: 前提整理】私が置いている前提を箇条書きで抽出し、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 暗黙の前提・未検証の仮説にマークを付ける。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【Step 2: 批判的レビュー】以下の観点で穴を指摘。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 - 論理の飛躍 / 反論時の弱点 / 見落とし利害関係者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【Step 3: 最終整理】決定可能か、追加情報が必要か。必要な追加情報リストも提示。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【私が大切にしている価値観】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{{価値観1}}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{{価値観2}}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{{背景・状況}}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 / Prompting best practices for Claude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戦略オプションの比較・優先順位付け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XML 構造化 + 長文後置 + Few-shot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XML tags help Claude parse complex prompts unambiguously）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&lt;options&gt;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&lt;option index="1"&gt;&lt;name&gt;{{A案}}&lt;/name&gt;&lt;description&gt;{{説明}}&lt;/description&gt;&lt;/option&gt;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&lt;option index="2"&gt;&lt;name&gt;{{B案}}&lt;/name&gt;&lt;description&gt;{{説明}}&lt;/description&gt;&lt;/option&gt;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&lt;/options&gt;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&lt;evaluation_criteria&gt;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短期効果（〜1年）/ 長期効果（3〜5年）/ 必要投資 / リスク / 差別化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&lt;/evaluation_criteria&gt;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&lt;weights&gt;長期効果 40% / 短期効果 20% / 投資 20% / リスク 20%&lt;/weights&gt;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各オプションを evaluation_criteria で評価し、weights を適用した総合スコアを算出。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最後に推奨案とその理由を提示してください。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公式: 複雑なプロンプトは XML タグで指示・文脈・入力を明確に分離すると解釈精度が上がる。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信頼できる情報収集（ハルシネーション防止）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B9AA7"/>
                </a:solidFill>
                <a:latin typeface="Meiryo UI"/>
                <a:ea typeface="Meiryo UI"/>
              </a:rPr>
              <a:t>パターン⑨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適用する公式原則: 一次ソース指定 + 出典明記の強制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（根拠: Prompting best practices for Claude 4 — grounding in reliable sources &amp; clear instructions）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3A5F"/>
                </a:solidFill>
                <a:latin typeface="Meiryo UI"/>
                <a:ea typeface="Meiryo UI"/>
              </a:rPr>
              <a:t>プロンプト例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{{調査テーマ}} について調査してください。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【情報源の優先順位】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1. 公式ドキュメント・公式リポジトリ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2. ベンダー公式ブログ・リリースノート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  3. 業界標準（ISO / NIST / IPA など）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【IMPORTANT: 以下を必ず守ること】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各情報に出典 URL を明記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推測・未確認情報は「要確認」と注記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バージョン依存・日付依存の情報は対象を明記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- 一次ソースで裏取りできない主張は含めない</a:t>
            </a:r>
          </a:p>
          <a:p>
            <a:pPr algn="l"/>
            <a:endParaRPr sz="1000" b="0">
              <a:solidFill>
                <a:srgbClr val="333333"/>
              </a:solidFill>
              <a:latin typeface="Consolas"/>
              <a:ea typeface="Meiryo UI"/>
            </a:endParaRP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【アウトプット形式】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  <a:ea typeface="Meiryo UI"/>
              </a:rPr>
              <a:t>| 項目 | 内容 | 出典 URL | 最終確認日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Meiryo UI"/>
                <a:ea typeface="Meiryo UI"/>
              </a:rPr>
              <a:t>※ 一次ソース指定と出典必須の制約は、ハルシネーションを構造的に抑える。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Prompting best practices for Claude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避けるべきアンチパターン &amp; コンテキスト管理 🟢🟡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公式が明記するアンチパターン 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Kitchen sink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1セッションに無関係なタスクを混在させる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Correcting over and 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同じ指摘を繰り返す（2回失敗したら /clear）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Over-specified 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CLAUDE.md が肥大化し指示が無視される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4962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Trust-then-verify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4223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検証せず信頼し、動かないコードを生む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2686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Meiryo UI"/>
                <a:ea typeface="Meiryo UI"/>
              </a:rPr>
              <a:t>Infinite exploration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1947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スコープなしの調査でコンテキスト消費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914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コンテキスト管理コマンド 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51790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Consolas"/>
                <a:ea typeface="Meiryo UI"/>
              </a:rPr>
              <a:t>/clear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81051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タスク切替時にコンテキストをリセット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4028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29514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Consolas"/>
                <a:ea typeface="Meiryo UI"/>
              </a:rPr>
              <a:t>/compact &lt;指示&gt;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8775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要約して圧縮する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01752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07238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Consolas"/>
                <a:ea typeface="Meiryo UI"/>
              </a:rPr>
              <a:t>Esc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649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Claude を停止（コンテキストは保持）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9476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84962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Consolas"/>
                <a:ea typeface="Meiryo UI"/>
              </a:rPr>
              <a:t>Esc + Esc / /rewind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4223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過去のチェックポイントに戻る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62686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A5F"/>
                </a:solidFill>
                <a:latin typeface="Consolas"/>
                <a:ea typeface="Meiryo UI"/>
              </a:rPr>
              <a:t>/btw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1947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Meiryo UI"/>
                <a:ea typeface="Meiryo UI"/>
              </a:rPr>
              <a:t>コンテキストに残さず一時的に質問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出典: Best Practices for Claude Code (Anthropic 公式)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2B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3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eiryo UI"/>
                <a:ea typeface="Meiryo UI"/>
              </a:rPr>
              <a:t>参考資料（すべて Anthropic 公式ソース）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Best Practices for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Claude Code の運用ベストプラクティスをまとめた公式ドキュメント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9AA7"/>
                </a:solidFill>
                <a:latin typeface="Consolas"/>
                <a:ea typeface="Meiryo UI"/>
              </a:rPr>
              <a:t>https://code.claude.com/docs/en/best-practices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Prompting best practices for Claude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Claude 4 系モデルに特化したプロンプトエンジニアリング公式ガイド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9AA7"/>
                </a:solidFill>
                <a:latin typeface="Consolas"/>
                <a:ea typeface="Meiryo UI"/>
              </a:rPr>
              <a:t>https://platform.claude.com/docs/en/docs/build-with-claude/prompt-engineering/claude-4-best-practices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Meiryo UI"/>
                <a:ea typeface="Meiryo UI"/>
              </a:rPr>
              <a:t>Prompt engineering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Meiryo UI"/>
                <a:ea typeface="Meiryo UI"/>
              </a:rPr>
              <a:t>プロンプトエンジニアリング全般の公式概観ドキュメント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B9AA7"/>
                </a:solidFill>
                <a:latin typeface="Consolas"/>
                <a:ea typeface="Meiryo UI"/>
              </a:rPr>
              <a:t>https://docs.anthropic.com/en/docs/build-with-claude/prompt-engineering/overview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Meiryo UI"/>
                <a:ea typeface="Meiryo UI"/>
              </a:rPr>
              <a:t>※ 本資料中の主張・原文引用はすべて上記3ソースのいずれかに基づきます。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 UI"/>
                <a:ea typeface="Meiryo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1638</Words>
  <Application>Microsoft Office PowerPoint</Application>
  <PresentationFormat>ワイド画面</PresentationFormat>
  <Paragraphs>293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Meiryo UI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2</cp:revision>
  <dcterms:created xsi:type="dcterms:W3CDTF">2013-01-27T09:14:16Z</dcterms:created>
  <dcterms:modified xsi:type="dcterms:W3CDTF">2026-04-22T01:48:46Z</dcterms:modified>
  <cp:category/>
</cp:coreProperties>
</file>