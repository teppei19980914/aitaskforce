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96" r:id="rId3"/>
    <p:sldId id="290" r:id="rId4"/>
    <p:sldId id="291" r:id="rId5"/>
    <p:sldId id="267" r:id="rId6"/>
    <p:sldId id="292" r:id="rId7"/>
    <p:sldId id="269" r:id="rId8"/>
    <p:sldId id="293" r:id="rId9"/>
    <p:sldId id="271" r:id="rId10"/>
    <p:sldId id="294" r:id="rId11"/>
    <p:sldId id="295" r:id="rId12"/>
    <p:sldId id="28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932" y="16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Yu Gothic"/>
              </a:defRPr>
            </a:pPr>
            <a:r>
              <a:t>AIタスクフォース 成果報告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DD"/>
                </a:solidFill>
                <a:latin typeface="Yu Gothic"/>
              </a:defRPr>
            </a:pPr>
            <a:r>
              <a:t>Claude Code の成熟度レベル比較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AABB"/>
                </a:solidFill>
                <a:latin typeface="Yu Gothic"/>
              </a:defRPr>
            </a:pPr>
            <a:r>
              <a:rPr dirty="0"/>
              <a:t>2026年4月</a:t>
            </a:r>
            <a:r>
              <a:rPr lang="en-US" dirty="0"/>
              <a:t>8</a:t>
            </a:r>
            <a:r>
              <a:rPr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953867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アジェンダ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1.   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結論</a:t>
            </a:r>
            <a:endParaRPr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spcAft>
                <a:spcPts val="1200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2.   Claude Code 習熟度レベル（5段階最適化）</a:t>
            </a:r>
          </a:p>
          <a:p>
            <a:pPr>
              <a:spcAft>
                <a:spcPts val="1200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3.</a:t>
            </a:r>
            <a:r>
              <a:rPr 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   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トークンコスト最適化の実測値</a:t>
            </a:r>
          </a:p>
          <a:p>
            <a:pPr>
              <a:spcAft>
                <a:spcPts val="1200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4.   AI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駆動開発の設計原則とベストプラクティス</a:t>
            </a:r>
          </a:p>
          <a:p>
            <a:pPr>
              <a:spcAft>
                <a:spcPts val="1200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5.   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他プロジェクトへの展開方法</a:t>
            </a:r>
            <a:endParaRPr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spcAft>
                <a:spcPts val="1200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6.   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まとめ</a:t>
            </a:r>
            <a:endParaRPr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8548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83DAB59-D4A0-4AFC-87EA-3D893EA2635B}"/>
              </a:ext>
            </a:extLst>
          </p:cNvPr>
          <p:cNvSpPr/>
          <p:nvPr/>
        </p:nvSpPr>
        <p:spPr>
          <a:xfrm>
            <a:off x="0" y="0"/>
            <a:ext cx="12192000" cy="1003300"/>
          </a:xfrm>
          <a:prstGeom prst="rect">
            <a:avLst/>
          </a:prstGeom>
          <a:solidFill>
            <a:srgbClr val="1B3A5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658FCCF-A58C-4455-A93E-0A8BB9563CF3}"/>
              </a:ext>
            </a:extLst>
          </p:cNvPr>
          <p:cNvSpPr txBox="1"/>
          <p:nvPr/>
        </p:nvSpPr>
        <p:spPr>
          <a:xfrm>
            <a:off x="736600" y="139700"/>
            <a:ext cx="10058400" cy="546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2400" b="1" dirty="0">
                <a:solidFill>
                  <a:srgbClr val="FFFFFF"/>
                </a:solidFill>
                <a:latin typeface="Yu Gothic"/>
                <a:ea typeface="Yu Gothic"/>
              </a:rPr>
              <a:t>1. </a:t>
            </a:r>
            <a:r>
              <a:rPr lang="ja-JP" altLang="en-US" sz="2400" b="1" dirty="0">
                <a:solidFill>
                  <a:srgbClr val="FFFFFF"/>
                </a:solidFill>
                <a:latin typeface="Yu Gothic"/>
                <a:ea typeface="Yu Gothic"/>
              </a:rPr>
              <a:t>結論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911F32-CAFE-4B83-921B-721D9C4645F0}"/>
              </a:ext>
            </a:extLst>
          </p:cNvPr>
          <p:cNvSpPr txBox="1"/>
          <p:nvPr/>
        </p:nvSpPr>
        <p:spPr>
          <a:xfrm>
            <a:off x="736600" y="596900"/>
            <a:ext cx="100584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1400">
                <a:solidFill>
                  <a:srgbClr val="BBCCDD"/>
                </a:solidFill>
                <a:latin typeface="Yu Gothic"/>
                <a:ea typeface="Yu Gothic"/>
              </a:rPr>
              <a:t>Claude Code </a:t>
            </a:r>
            <a:r>
              <a:rPr lang="ja-JP" altLang="en-US" sz="1400">
                <a:solidFill>
                  <a:srgbClr val="BBCCDD"/>
                </a:solidFill>
                <a:latin typeface="Yu Gothic"/>
                <a:ea typeface="Yu Gothic"/>
              </a:rPr>
              <a:t>の成熟度レベルを上げることで、品質・コスト・速度すべてが向上する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DD78C96-3C79-4B16-9403-91C15CF6D3ED}"/>
              </a:ext>
            </a:extLst>
          </p:cNvPr>
          <p:cNvSpPr/>
          <p:nvPr/>
        </p:nvSpPr>
        <p:spPr>
          <a:xfrm>
            <a:off x="457200" y="1282700"/>
            <a:ext cx="3479800" cy="2286000"/>
          </a:xfrm>
          <a:prstGeom prst="rect">
            <a:avLst/>
          </a:prstGeom>
          <a:solidFill>
            <a:srgbClr val="FFF5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FFF6C94-2AB7-4CA6-9074-F307EE0691CB}"/>
              </a:ext>
            </a:extLst>
          </p:cNvPr>
          <p:cNvSpPr/>
          <p:nvPr/>
        </p:nvSpPr>
        <p:spPr>
          <a:xfrm>
            <a:off x="457200" y="1282700"/>
            <a:ext cx="76200" cy="2286000"/>
          </a:xfrm>
          <a:prstGeom prst="rect">
            <a:avLst/>
          </a:prstGeom>
          <a:solidFill>
            <a:srgbClr val="E86C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35ABB0C-98AF-415E-AE70-8A63C4986D6A}"/>
              </a:ext>
            </a:extLst>
          </p:cNvPr>
          <p:cNvSpPr txBox="1"/>
          <p:nvPr/>
        </p:nvSpPr>
        <p:spPr>
          <a:xfrm>
            <a:off x="685800" y="1371600"/>
            <a:ext cx="31115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1600" b="1">
                <a:solidFill>
                  <a:srgbClr val="E86C00"/>
                </a:solidFill>
                <a:latin typeface="Yu Gothic"/>
                <a:ea typeface="Yu Gothic"/>
              </a:rPr>
              <a:t>トークンコスト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6BF4666-7B10-4B9C-AF5E-C81C86B3C61E}"/>
              </a:ext>
            </a:extLst>
          </p:cNvPr>
          <p:cNvSpPr/>
          <p:nvPr/>
        </p:nvSpPr>
        <p:spPr>
          <a:xfrm>
            <a:off x="4292600" y="1282700"/>
            <a:ext cx="3479800" cy="2286000"/>
          </a:xfrm>
          <a:prstGeom prst="rect">
            <a:avLst/>
          </a:prstGeom>
          <a:solidFill>
            <a:srgbClr val="EBF7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72F51C4-F63F-4E3D-97B8-87C4353690A1}"/>
              </a:ext>
            </a:extLst>
          </p:cNvPr>
          <p:cNvSpPr/>
          <p:nvPr/>
        </p:nvSpPr>
        <p:spPr>
          <a:xfrm>
            <a:off x="4292600" y="1282700"/>
            <a:ext cx="76200" cy="2286000"/>
          </a:xfrm>
          <a:prstGeom prst="rect">
            <a:avLst/>
          </a:prstGeom>
          <a:solidFill>
            <a:srgbClr val="00A35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8358454-6628-4BB1-93F8-EAAADB99CB78}"/>
              </a:ext>
            </a:extLst>
          </p:cNvPr>
          <p:cNvSpPr txBox="1"/>
          <p:nvPr/>
        </p:nvSpPr>
        <p:spPr>
          <a:xfrm>
            <a:off x="4521200" y="1371600"/>
            <a:ext cx="31115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1600" b="1">
                <a:solidFill>
                  <a:srgbClr val="00A35E"/>
                </a:solidFill>
                <a:latin typeface="Yu Gothic"/>
                <a:ea typeface="Yu Gothic"/>
              </a:rPr>
              <a:t>品質チェック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4F2E8A4-597F-42DC-A9FF-79D31DDB7333}"/>
              </a:ext>
            </a:extLst>
          </p:cNvPr>
          <p:cNvSpPr/>
          <p:nvPr/>
        </p:nvSpPr>
        <p:spPr>
          <a:xfrm>
            <a:off x="8140700" y="1282700"/>
            <a:ext cx="3568700" cy="2286000"/>
          </a:xfrm>
          <a:prstGeom prst="rect">
            <a:avLst/>
          </a:prstGeom>
          <a:solidFill>
            <a:srgbClr val="EBF2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510BD57-5D74-4064-B1A4-12FC4DAB8D55}"/>
              </a:ext>
            </a:extLst>
          </p:cNvPr>
          <p:cNvSpPr/>
          <p:nvPr/>
        </p:nvSpPr>
        <p:spPr>
          <a:xfrm>
            <a:off x="8140700" y="1282700"/>
            <a:ext cx="76200" cy="2286000"/>
          </a:xfrm>
          <a:prstGeom prst="rect">
            <a:avLst/>
          </a:prstGeom>
          <a:solidFill>
            <a:srgbClr val="007AC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0B09ADE-B790-488D-BB26-C2B6855819A6}"/>
              </a:ext>
            </a:extLst>
          </p:cNvPr>
          <p:cNvSpPr txBox="1"/>
          <p:nvPr/>
        </p:nvSpPr>
        <p:spPr>
          <a:xfrm>
            <a:off x="8369300" y="1371600"/>
            <a:ext cx="32004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1600" b="1">
                <a:solidFill>
                  <a:srgbClr val="007ACC"/>
                </a:solidFill>
                <a:latin typeface="Yu Gothic"/>
                <a:ea typeface="Yu Gothic"/>
              </a:rPr>
              <a:t>展開性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9191DE0-278A-410A-B00D-F15F497FAB80}"/>
              </a:ext>
            </a:extLst>
          </p:cNvPr>
          <p:cNvSpPr/>
          <p:nvPr/>
        </p:nvSpPr>
        <p:spPr>
          <a:xfrm>
            <a:off x="457200" y="3835400"/>
            <a:ext cx="11252200" cy="2565400"/>
          </a:xfrm>
          <a:prstGeom prst="rect">
            <a:avLst/>
          </a:prstGeom>
          <a:solidFill>
            <a:srgbClr val="F0F4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4666932-E4FE-4FB6-96D7-3EA1EB79705D}"/>
              </a:ext>
            </a:extLst>
          </p:cNvPr>
          <p:cNvSpPr/>
          <p:nvPr/>
        </p:nvSpPr>
        <p:spPr>
          <a:xfrm>
            <a:off x="457200" y="3835400"/>
            <a:ext cx="76200" cy="2565400"/>
          </a:xfrm>
          <a:prstGeom prst="rect">
            <a:avLst/>
          </a:prstGeom>
          <a:solidFill>
            <a:srgbClr val="1B3A5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0A39B93-CEAE-409D-94CD-8E37B9144B35}"/>
              </a:ext>
            </a:extLst>
          </p:cNvPr>
          <p:cNvSpPr txBox="1"/>
          <p:nvPr/>
        </p:nvSpPr>
        <p:spPr>
          <a:xfrm>
            <a:off x="685800" y="3937000"/>
            <a:ext cx="108839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1600" b="1">
                <a:solidFill>
                  <a:srgbClr val="1B3A5C"/>
                </a:solidFill>
                <a:latin typeface="Yu Gothic"/>
                <a:ea typeface="Yu Gothic"/>
              </a:rPr>
              <a:t>本資料のメッセージ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1C4A10A-9A57-40BC-A87D-213706D4E759}"/>
              </a:ext>
            </a:extLst>
          </p:cNvPr>
          <p:cNvSpPr txBox="1"/>
          <p:nvPr/>
        </p:nvSpPr>
        <p:spPr>
          <a:xfrm>
            <a:off x="685800" y="1739900"/>
            <a:ext cx="3111500" cy="1739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ja-JP" sz="3200" b="1" dirty="0">
                <a:solidFill>
                  <a:srgbClr val="E86C00"/>
                </a:solidFill>
                <a:latin typeface="Yu Gothic"/>
              </a:rPr>
              <a:t>-73%</a:t>
            </a:r>
          </a:p>
          <a:p>
            <a:pPr algn="l">
              <a:spcAft>
                <a:spcPts val="400"/>
              </a:spcAft>
            </a:pPr>
            <a:r>
              <a:rPr lang="ja-JP" sz="1500" b="0" dirty="0">
                <a:solidFill>
                  <a:srgbClr val="333333"/>
                </a:solidFill>
                <a:latin typeface="Yu Gothic"/>
              </a:rPr>
              <a:t>Level 5 最適化により</a:t>
            </a:r>
          </a:p>
          <a:p>
            <a:pPr algn="l">
              <a:spcAft>
                <a:spcPts val="400"/>
              </a:spcAft>
            </a:pPr>
            <a:r>
              <a:rPr lang="ja-JP" sz="1500" b="0" dirty="0">
                <a:solidFill>
                  <a:srgbClr val="333333"/>
                </a:solidFill>
                <a:latin typeface="Yu Gothic"/>
              </a:rPr>
              <a:t>Level 1 比で大幅削減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87F4D78-26B6-455E-9EA6-952F6ADEDFA5}"/>
              </a:ext>
            </a:extLst>
          </p:cNvPr>
          <p:cNvSpPr txBox="1"/>
          <p:nvPr/>
        </p:nvSpPr>
        <p:spPr>
          <a:xfrm>
            <a:off x="4521200" y="1739900"/>
            <a:ext cx="3111500" cy="1739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ja-JP" sz="3200" b="1" dirty="0">
                <a:solidFill>
                  <a:srgbClr val="00A35E"/>
                </a:solidFill>
                <a:latin typeface="Yu Gothic"/>
              </a:rPr>
              <a:t>100%</a:t>
            </a:r>
          </a:p>
          <a:p>
            <a:pPr algn="l">
              <a:spcAft>
                <a:spcPts val="400"/>
              </a:spcAft>
            </a:pPr>
            <a:r>
              <a:rPr lang="ja-JP" sz="1500" b="0" dirty="0">
                <a:solidFill>
                  <a:srgbClr val="333333"/>
                </a:solidFill>
                <a:latin typeface="Yu Gothic"/>
              </a:rPr>
              <a:t>Level 4-5 で全品質</a:t>
            </a:r>
          </a:p>
          <a:p>
            <a:pPr algn="l">
              <a:spcAft>
                <a:spcPts val="400"/>
              </a:spcAft>
            </a:pPr>
            <a:r>
              <a:rPr lang="ja-JP" sz="1500" b="0" dirty="0">
                <a:solidFill>
                  <a:srgbClr val="333333"/>
                </a:solidFill>
                <a:latin typeface="Yu Gothic"/>
              </a:rPr>
              <a:t>チェックが自動化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68D372B-2C39-46B9-A585-05B07BC35C99}"/>
              </a:ext>
            </a:extLst>
          </p:cNvPr>
          <p:cNvSpPr txBox="1"/>
          <p:nvPr/>
        </p:nvSpPr>
        <p:spPr>
          <a:xfrm>
            <a:off x="8369300" y="1739900"/>
            <a:ext cx="3200400" cy="1739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ja-JP" sz="3200" b="1" dirty="0">
                <a:solidFill>
                  <a:srgbClr val="007ACC"/>
                </a:solidFill>
                <a:latin typeface="Yu Gothic"/>
              </a:rPr>
              <a:t>4週間</a:t>
            </a:r>
          </a:p>
          <a:p>
            <a:pPr algn="l">
              <a:spcAft>
                <a:spcPts val="400"/>
              </a:spcAft>
            </a:pPr>
            <a:r>
              <a:rPr lang="ja-JP" sz="1500" b="0" dirty="0">
                <a:solidFill>
                  <a:srgbClr val="333333"/>
                </a:solidFill>
                <a:latin typeface="Yu Gothic"/>
              </a:rPr>
              <a:t>テンプレート活用で</a:t>
            </a:r>
          </a:p>
          <a:p>
            <a:pPr algn="l">
              <a:spcAft>
                <a:spcPts val="400"/>
              </a:spcAft>
            </a:pPr>
            <a:r>
              <a:rPr lang="ja-JP" sz="1500" b="0" dirty="0">
                <a:solidFill>
                  <a:srgbClr val="333333"/>
                </a:solidFill>
                <a:latin typeface="Yu Gothic"/>
              </a:rPr>
              <a:t>段階的に他PJへ展開可能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98322E4-DD99-4CAB-9BFE-38AA25A22337}"/>
              </a:ext>
            </a:extLst>
          </p:cNvPr>
          <p:cNvSpPr txBox="1"/>
          <p:nvPr/>
        </p:nvSpPr>
        <p:spPr>
          <a:xfrm>
            <a:off x="685800" y="4292600"/>
            <a:ext cx="10883900" cy="200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ja-JP" sz="1600" b="1" dirty="0">
                <a:solidFill>
                  <a:srgbClr val="1B3A5C"/>
                </a:solidFill>
                <a:latin typeface="Yu Gothic"/>
              </a:rPr>
              <a:t>Claude Code は5段階の成熟度レベルで最適化でき、レベルが上がるほど効果が増大する</a:t>
            </a:r>
          </a:p>
          <a:p>
            <a:pPr algn="l">
              <a:spcAft>
                <a:spcPts val="400"/>
              </a:spcAft>
            </a:pPr>
            <a:r>
              <a:rPr lang="ja-JP" sz="1400" b="0" dirty="0">
                <a:solidFill>
                  <a:srgbClr val="333333"/>
                </a:solidFill>
                <a:latin typeface="Yu Gothic"/>
              </a:rPr>
              <a:t>Level 1（素のClaude Code）から Level 5（完全自動化）まで、CLAUDE.md・カスタムコマンド・</a:t>
            </a:r>
          </a:p>
          <a:p>
            <a:pPr algn="l">
              <a:spcAft>
                <a:spcPts val="400"/>
              </a:spcAft>
            </a:pPr>
            <a:r>
              <a:rPr lang="ja-JP" sz="1400" b="0" dirty="0">
                <a:solidFill>
                  <a:srgbClr val="333333"/>
                </a:solidFill>
                <a:latin typeface="Yu Gothic"/>
              </a:rPr>
              <a:t>Skills・Hooks を段階的に導入することで、トークンコスト73%削減と品質チェック100%自動化を実現。</a:t>
            </a:r>
          </a:p>
          <a:p>
            <a:pPr algn="l">
              <a:spcAft>
                <a:spcPts val="400"/>
              </a:spcAft>
            </a:pPr>
            <a:r>
              <a:rPr lang="ja-JP" sz="1400" b="0" dirty="0">
                <a:solidFill>
                  <a:srgbClr val="333333"/>
                </a:solidFill>
                <a:latin typeface="Yu Gothic"/>
              </a:rPr>
              <a:t>テンプレートリポジトリにより、他プロジェクトへの段階的な展開も可能。</a:t>
            </a:r>
          </a:p>
          <a:p>
            <a:pPr algn="l">
              <a:spcAft>
                <a:spcPts val="400"/>
              </a:spcAft>
            </a:pPr>
            <a:r>
              <a:rPr lang="ja-JP" sz="1400" b="1" dirty="0">
                <a:solidFill>
                  <a:srgbClr val="007ACC"/>
                </a:solidFill>
                <a:latin typeface="Yu Gothic"/>
              </a:rPr>
              <a:t>本資料では、各レベルの詳細・コスト実測値・設計原則・アンチパターン・展開方法を解説する。</a:t>
            </a:r>
          </a:p>
        </p:txBody>
      </p:sp>
    </p:spTree>
    <p:extLst>
      <p:ext uri="{BB962C8B-B14F-4D97-AF65-F5344CB8AC3E}">
        <p14:creationId xmlns:p14="http://schemas.microsoft.com/office/powerpoint/2010/main" val="2927338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2. Claude Code 習熟度レベル（5段階）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レベルが上がるほど「人間の繰り返し指示」がシステムに吸収される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1371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素のプロンプト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毎回ルールを手動入力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2011680" cy="1371600"/>
          </a:xfrm>
          <a:prstGeom prst="rect">
            <a:avLst/>
          </a:prstGeom>
          <a:solidFill>
            <a:srgbClr val="99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CLAUDE.md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ルール自動読み込み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011680" cy="1371600"/>
          </a:xfrm>
          <a:prstGeom prst="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手順のオンデマンド注入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2011680" cy="1371600"/>
          </a:xfrm>
          <a:prstGeom prst="rect">
            <a:avLst/>
          </a:prstGeom>
          <a:solidFill>
            <a:srgbClr val="33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品質チェック自動実行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011680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並行レビュー自動実行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32004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状況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推奨レベル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Claude Code を試しに使ってみる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プロジェクトのルールを毎回伝えるのが面倒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同じ作業手順を何度も説明している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静的解析・テストを毎回手動で頼んでいる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セキュリティ・パフォーマンスレビューを毎回依頼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48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Claude Code レベル別構成要素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各レベルで追加される仕組みの詳細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7607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2468880"/>
          </a:xfrm>
          <a:prstGeom prst="rect">
            <a:avLst/>
          </a:prstGeom>
          <a:solidFill>
            <a:srgbClr val="99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9BBDD"/>
                </a:solidFill>
                <a:latin typeface="Yu Gothic"/>
              </a:defRPr>
            </a:pPr>
            <a:r>
              <a:t>Level 2: 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プロジェクトルートに配置するルールファイル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セッション開始時に自動読み込み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設計原則: 150行以内（要約のみ）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詳細手順はSkillsに移行しコスト最適化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692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73152" cy="2468880"/>
          </a:xfrm>
          <a:prstGeom prst="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99CC"/>
                </a:solidFill>
                <a:latin typeface="Yu Gothic"/>
              </a:defRPr>
            </a:pPr>
            <a:r>
              <a:t>Level 3: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.claude/skills/ に手順書を配置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/fix-issue, /release 等コマンドで呼び出し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使用時のみトークン消費（未使用時コスト0）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「2回言ったら自動化する」原則で作成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57607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73152" cy="2468880"/>
          </a:xfrm>
          <a:prstGeom prst="rect">
            <a:avLst/>
          </a:prstGeom>
          <a:solidFill>
            <a:srgbClr val="33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931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77BB"/>
                </a:solidFill>
                <a:latin typeface="Yu Gothic"/>
              </a:defRPr>
            </a:pPr>
            <a:r>
              <a:t>Level 4: 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settings.json で自動実行ルールを定義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PostToolUse: ファイル編集後に自動フォーマット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Stop: セッション終了時に品質ゲート実行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command型（確実実行）+ prompt型（AI判断）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6692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73152" cy="24688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Level 5: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.claude/agents/ にレビュー定義を配置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独立サブプロセスとして並行実行可能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security-reviewer / performance-reviewer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label-checker（ハードコード文字列検出）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rPr lang="en-US" dirty="0"/>
              <a:t>3</a:t>
            </a:r>
            <a:r>
              <a:rPr dirty="0"/>
              <a:t>. </a:t>
            </a:r>
            <a:r>
              <a:rPr dirty="0" err="1"/>
              <a:t>トークンコスト最適化の実測値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Level 5 で Level 1 比 73%のコスト削減を達成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レベル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毎セッション固定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作業指示コスト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合計（相対値）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1比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1 (Raw)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約5,000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基準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2 (CLAUDE.md)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約3,500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0.96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3 (+ Skills)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約500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-64%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4 (+ Hooks)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約350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0.33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-67%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5 (+ Agents)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約50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-73%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84632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846320"/>
            <a:ext cx="73152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Before (Level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毎セッション読み込み: 16,574 bytes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CLAUDE.md に全手順を詰め込み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84632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4846320"/>
            <a:ext cx="73152" cy="16459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4937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After (Level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53035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毎セッション固定: 3,454 bytes (-79%)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オンデマンド: 7,195 bytes (未使用時コスト0)</a:t>
            </a:r>
          </a:p>
        </p:txBody>
      </p:sp>
    </p:spTree>
    <p:extLst>
      <p:ext uri="{BB962C8B-B14F-4D97-AF65-F5344CB8AC3E}">
        <p14:creationId xmlns:p14="http://schemas.microsoft.com/office/powerpoint/2010/main" val="268812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品質チェックの自動化マトリクス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Level 4-5 で全品質チェックが自動化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品質チェック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1-2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3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4-5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コードフォーマット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静的解析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テスト実行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禁止語検出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横展開チェック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 prompt）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セキュリティチェック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自動（Agent）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パフォーマンスチェック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自動（Agent）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Yu Gothic"/>
              </a:defRPr>
            </a:pPr>
            <a:r>
              <a:t>品質ゲート: ファイル編集 → 自動フォーマット → 開発継続 → セッション終了時に全チェック自動実行 → 問題があれば自動修正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rPr lang="en-US" dirty="0"/>
              <a:t>4</a:t>
            </a:r>
            <a:r>
              <a:rPr dirty="0"/>
              <a:t>. </a:t>
            </a:r>
            <a:r>
              <a:rPr dirty="0" err="1"/>
              <a:t>AI駆動開発の設計原則とベストプラクティス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CLAUDE.md は「ルールブック」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手順書ではなくルールの要約のみ（150行以内）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詳細手順はSkillsに移行しコスト最適化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73152" cy="22860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「2回言ったら自動化する」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1回目: プロンプトで指示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2回目: Skill化 or Hook化を検討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毎回: Hook（自動実行）に昇格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AIへの指示の最適粒度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×「いい感じにして」→ AIが迷走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○「サブスク解約の仕組みを作って」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×「45行目にif文追加」→ AI設計力を活かせず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749040"/>
            <a:ext cx="73152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レビューの3観点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① 意図通りか（動作確認）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② 副作用がないか（テスト結果）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③ 設計が妥当か（差分の俯瞰）</a:t>
            </a:r>
          </a:p>
        </p:txBody>
      </p:sp>
    </p:spTree>
    <p:extLst>
      <p:ext uri="{BB962C8B-B14F-4D97-AF65-F5344CB8AC3E}">
        <p14:creationId xmlns:p14="http://schemas.microsoft.com/office/powerpoint/2010/main" val="425388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よくある失敗パターン（アンチパターン）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CLAUDE.md の肥大化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全手順を詰め込み毎セッション7,000bytes超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トークンコスト26%増加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150行以内。詳細はSkillsへ移行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Hookの過剰設定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全チェックをHookに入れ終了時5分超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開発の流れが止まる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必須チェックのみ。低頻度はAgent化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AIに全てを任せる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「いい感じにリファクタリングして」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不要な変更、意図しないファイル修正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「何を」「なぜ」を明確に。「どう」はAIに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AIの出力を検証しない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生成コードをそのままコミット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実機UI崩れ、外部連携不具合の見逃し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ローカル動作確認。UI操作性は人間が必ず確認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rPr lang="en-US" dirty="0"/>
              <a:t>5</a:t>
            </a:r>
            <a:r>
              <a:rPr dirty="0"/>
              <a:t>. </a:t>
            </a:r>
            <a:r>
              <a:rPr dirty="0" err="1"/>
              <a:t>他プロジェクトへの展開方法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テンプレートリポジトリによる段階的導入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99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CLAUDE.md を配置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2011680"/>
          </a:xfrm>
          <a:prstGeom prst="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Skills を追加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560320" cy="2011680"/>
          </a:xfrm>
          <a:prstGeom prst="rect">
            <a:avLst/>
          </a:prstGeom>
          <a:solidFill>
            <a:srgbClr val="33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Hooks を追加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371600"/>
            <a:ext cx="2560320" cy="20116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Agents を追加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73152" cy="25603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3931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テンプレートリポジトリ（ClaudeCodeTemplate）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97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・Level 5 構成をテンプレート化済み。プレースホルダーを置換するだけで導入可能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・プレースホルダー: {{PROJECT_NAME}}, {{TECH_STACK}}, {{TEST_COMMAND}}, {{BUILD_COMMAND}} 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・一気にLevel 5を目指さない。プロジェクトの課題が見えてから段階的に追加する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・導入: git clone → setup.sh 実行 → 生成ファイルをプロジェクトに配置</a:t>
            </a:r>
          </a:p>
        </p:txBody>
      </p:sp>
    </p:spTree>
    <p:extLst>
      <p:ext uri="{BB962C8B-B14F-4D97-AF65-F5344CB8AC3E}">
        <p14:creationId xmlns:p14="http://schemas.microsoft.com/office/powerpoint/2010/main" val="1342450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rPr lang="en-US" dirty="0"/>
              <a:t>6</a:t>
            </a:r>
            <a:r>
              <a:rPr dirty="0"/>
              <a:t>. </a:t>
            </a:r>
            <a:r>
              <a:rPr dirty="0" err="1"/>
              <a:t>まとめ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開発生産性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007ACC"/>
                </a:solidFill>
                <a:latin typeface="Yu Gothic"/>
              </a:defRPr>
            </a:pPr>
            <a:r>
              <a:t>6〜9倍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の期間短縮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666666"/>
                </a:solidFill>
                <a:latin typeface="Yu Gothic"/>
              </a:defRPr>
            </a:pPr>
            <a:r>
              <a:t>コード生産速度 23〜46倍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73152" cy="22860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品質向上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00A35E"/>
                </a:solidFill>
                <a:latin typeface="Yu Gothic"/>
              </a:defRPr>
            </a:pPr>
            <a:r>
              <a:t>813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テストケース自動生成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666666"/>
                </a:solidFill>
                <a:latin typeface="Yu Gothic"/>
              </a:defRPr>
            </a:pPr>
            <a:r>
              <a:t>テスト密度 6倍以上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コスト最適化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E86C00"/>
                </a:solidFill>
                <a:latin typeface="Yu Gothic"/>
              </a:defRPr>
            </a:pPr>
            <a:r>
              <a:t>-73%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トークンコスト削減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666666"/>
                </a:solidFill>
                <a:latin typeface="Yu Gothic"/>
              </a:defRPr>
            </a:pPr>
            <a:r>
              <a:t>Level 5 最適化による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471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73152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84047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結論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6239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AI駆動開発は「スクラッチ開発」で最大の効果を発揮する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スクラッチ開発: コード生成〜テスト〜CI/CDまで全工程をAIが一貫支援。6〜9倍の期間短縮。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ローコード/ノーコード: コード生成の恩恵は限定的だが、設計レビュー・要件定義・ドキュメント作成では有効。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500" b="1">
                <a:solidFill>
                  <a:srgbClr val="007ACC"/>
                </a:solidFill>
                <a:latin typeface="Yu Gothic"/>
              </a:defRPr>
            </a:pPr>
            <a:r>
              <a:t>AIは「人間の意思決定を高速に具現化するエンジン」。ビジョン・ドメイン設計・UX判断は引き続き人間の役割。</a:t>
            </a:r>
          </a:p>
        </p:txBody>
      </p:sp>
    </p:spTree>
    <p:extLst>
      <p:ext uri="{BB962C8B-B14F-4D97-AF65-F5344CB8AC3E}">
        <p14:creationId xmlns:p14="http://schemas.microsoft.com/office/powerpoint/2010/main" val="574259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0421B9C-1B81-414F-97C4-B6A9F5362F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5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5C8D09-9D05-424B-B39C-C8DCDB71BEA3}"/>
              </a:ext>
            </a:extLst>
          </p:cNvPr>
          <p:cNvSpPr txBox="1"/>
          <p:nvPr/>
        </p:nvSpPr>
        <p:spPr>
          <a:xfrm>
            <a:off x="1016000" y="2476500"/>
            <a:ext cx="1016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ja-JP" altLang="en-US" sz="3600" b="1" dirty="0">
                <a:solidFill>
                  <a:srgbClr val="FFFFFF"/>
                </a:solidFill>
                <a:latin typeface="Yu Gothic"/>
                <a:ea typeface="Yu Gothic"/>
              </a:rPr>
              <a:t>ご清聴ありがとうございました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713AE6-A59D-4782-AEBE-E2C1C05CE27F}"/>
              </a:ext>
            </a:extLst>
          </p:cNvPr>
          <p:cNvSpPr/>
          <p:nvPr/>
        </p:nvSpPr>
        <p:spPr>
          <a:xfrm>
            <a:off x="4826000" y="3429000"/>
            <a:ext cx="2540000" cy="25400"/>
          </a:xfrm>
          <a:prstGeom prst="rect">
            <a:avLst/>
          </a:prstGeom>
          <a:solidFill>
            <a:srgbClr val="BBCCD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FA51CC-081E-4332-8099-A599B261608C}"/>
              </a:ext>
            </a:extLst>
          </p:cNvPr>
          <p:cNvSpPr txBox="1"/>
          <p:nvPr/>
        </p:nvSpPr>
        <p:spPr>
          <a:xfrm>
            <a:off x="2286000" y="3746500"/>
            <a:ext cx="762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ja-JP" sz="2000" dirty="0">
                <a:solidFill>
                  <a:srgbClr val="BBCCDD"/>
                </a:solidFill>
                <a:latin typeface="Yu Gothic"/>
                <a:ea typeface="Yu Gothic"/>
              </a:rPr>
              <a:t>Claude Code の成熟度レベル比較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FFD1E4-5289-4588-AB4F-888AA1B87D01}"/>
              </a:ext>
            </a:extLst>
          </p:cNvPr>
          <p:cNvSpPr txBox="1"/>
          <p:nvPr/>
        </p:nvSpPr>
        <p:spPr>
          <a:xfrm>
            <a:off x="2286000" y="4381500"/>
            <a:ext cx="762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ja-JP" sz="1400" dirty="0">
                <a:solidFill>
                  <a:srgbClr val="778899"/>
                </a:solidFill>
                <a:latin typeface="Yu Gothic"/>
                <a:ea typeface="Yu Gothic"/>
              </a:rPr>
              <a:t>AIタスクフォース 成果報告 | 2026年4月8日</a:t>
            </a:r>
          </a:p>
        </p:txBody>
      </p:sp>
    </p:spTree>
    <p:extLst>
      <p:ext uri="{BB962C8B-B14F-4D97-AF65-F5344CB8AC3E}">
        <p14:creationId xmlns:p14="http://schemas.microsoft.com/office/powerpoint/2010/main" val="1698018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73CF1C-A546-4BBA-A7C8-E22F02EA809B}">
  <we:reference id="f5f369e5-aa35-49d7-ad7b-638152ddb008" version="1.0.0.1" store="EXCatalog" storeType="EXCatalog"/>
  <we:alternateReferences>
    <we:reference id="WA200010001" version="1.0.0.1" store="ja-JP" storeType="OMEX"/>
  </we:alternateReferences>
  <we:properties>
    <we:property name="claude.fileId" value="&quot;e703ce31-9ca0-419c-86ee-b1ba2770a9f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921</Words>
  <Application>Microsoft Office PowerPoint</Application>
  <PresentationFormat>ワイド画面</PresentationFormat>
  <Paragraphs>236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Yu Gothic</vt:lpstr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Suyama Teppei</cp:lastModifiedBy>
  <cp:revision>5</cp:revision>
  <dcterms:created xsi:type="dcterms:W3CDTF">2013-01-27T09:14:16Z</dcterms:created>
  <dcterms:modified xsi:type="dcterms:W3CDTF">2026-04-08T01:08:53Z</dcterms:modified>
  <cp:category/>
</cp:coreProperties>
</file>