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Yu Gothic"/>
              </a:defRPr>
            </a:pPr>
            <a:r>
              <a:t>AIタスクフォース 成果報告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DD"/>
                </a:solidFill>
                <a:latin typeface="Yu Gothic"/>
              </a:defRPr>
            </a:pPr>
            <a:r>
              <a:t>AI駆動開発の実証実験 — 個人開発アプリ「ユメログ」から得た知見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876495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AABB"/>
                </a:solidFill>
                <a:latin typeface="Yu Gothic"/>
              </a:defRPr>
            </a:pPr>
            <a:r>
              <a:t>2026年4月2日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Yu Gothic"/>
              </a:defRPr>
            </a:pPr>
            <a:r>
              <a:t>活動期間: 2026年3月 〜 2026年6月（予定）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アジェンダ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1.   実証実験の概要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2.   AI駆動開発 vs 従来開発 — 定量比較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3.   開発ライフサイクル別の効果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4.   品質面での比較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5.   開発手法別のAI駆動開発 効果比較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6.   Claude Code 習熟度レベル（5段階最適化）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7.   トークンコスト最適化の実測値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8.   AI駆動開発の設計原則とベストプラクティス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9.   他プロジェクトへの展開方法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10. まとめ・今後の活動予定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1. 実証実験の概要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個人開発アプリ「ユメログ（YumeLog）」での検証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開発者プロフィール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・IT業界経験: 約5年（27歳）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・パッケージ/ローコード開発: 約3年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・スクラッチ開発経験: なし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・Flutter/Dart/モバイル開発: 未経験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未経験技術でのスクラッチ開発に挑戦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73152" cy="25603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プロジェクト規模（実績）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・開発期間: 29日間（実稼働21日）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・総コード: 47,900行 / 200ファイル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・テスト: 813ケース（全件パス）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・主要機能: 32機能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・コミット: 105回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ユメログ（YumeLog）アプリとは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夢 → 目標 → タスクの階層で人生の目標を管理するWebアプリ。ゲーミフィケーション（星座システム）、Stripe決済連携、Firebase同期など32機能を搭載。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技術スタック: Flutter / Dart / Drift ORM / Riverpod / Firebase / Stripe / GitHub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2. AI駆動開発 vs 従来開発 — 定量比較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同一開発者・同一プロジェクトでの比較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200400"/>
                <a:gridCol w="256032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指標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AI駆動開発（実績）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従来開発（推定）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効果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開発期間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29日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6〜9ヶ月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6〜9倍短縮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実稼働日数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21日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120〜180日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6〜9倍短縮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コード生産速度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2,281行/日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50〜100行/日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23〜46倍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学習コスト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0日（開発と同時）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1〜2ヶ月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完全省略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テスト密度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16.9件/KLOC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0〜3件/KLOC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6倍以上</a:t>
                      </a:r>
                    </a:p>
                  </a:txBody>
                  <a:tcPr anchor="ctr"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コスト効率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21人日 + AI利用料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120〜180人日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6〜9倍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Yu Gothic"/>
              </a:defRPr>
            </a:pPr>
            <a:r>
              <a:t>※ 従来開発の推定値は IPA SEC「ソフトウェア開発データ白書」およびCOCOMO IIモデルに基づく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3. 開発ライフサイクル別の効果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全工程で70〜95%の期間短縮を実現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2286000"/>
                <a:gridCol w="1645920"/>
                <a:gridCol w="393192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工程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AI駆動（実績）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従来開発（推定）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短縮率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AIの主な貢献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企画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1〜2週間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70〜85%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競合分析・機能案のブレスト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要件定義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2〜4週間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80〜90%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網羅性チェック・非機能要件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仕様検討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3〜6週間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80〜90%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画面仕様・データモデル整理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設計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2〜4週間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80〜90%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アーキテクチャ・DB設計提案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開発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14日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3〜6ヶ月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85〜95%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コード生成・リファクタリング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2日（並行）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1〜2ヶ月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90〜95%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813テストケース自動生成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合計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約21日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約7〜14ヶ月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Yu Gothic"/>
              </a:defRPr>
            </a:pPr>
            <a:r>
              <a:t>最大の効果: テスト（90〜95%短縮）と開発（85〜95%短縮）。未経験技術の学習コストがゼロになる点が最大の寄与。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4. 品質面での比較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AI駆動開発は速度だけでなく品質も向上させる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1031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テスト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813テストケース（16.9件/KLOC）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0〜50件（0〜3件/KLOC）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テスト密度 6倍以上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21031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アーキテクチャ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3層分離（DAO/Service/Provider）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画面にロジック混在の可能性大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設計品質が初回から高い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73152" cy="21031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49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セキュリティ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XSS/インジェクション/バリデーション対応済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開発者の知識レベルに依存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OWASP Top10 を網羅的に自動対策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73152" cy="2103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CI/CD・品質基盤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GitHub Actions自動化、全テキスト外部化(750定数)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手動デプロイ、ハードコード中心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品質基盤が開発と同時に構築される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AI駆動開発における人間とAIの役割分担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AIは「人間の意思決定を高速に具現化するエンジン」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人間が担うこと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AIが担うこと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何を作るか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プロダクトビジョン、ドメイン設計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どう作るか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最終的なUX判断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アーキテクチャ提案、技術選定、実装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品質保証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実機テスト、視認性確認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テスト生成、静的解析、セキュリティレビュー</a:t>
                      </a:r>
                    </a:p>
                  </a:txBody>
                  <a:tcPr anchor="ctr"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リリース判断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コミット・プッシュの実行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チェックリスト自動実行、ブロッカー検出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73152" cy="1828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AI駆動開発の課題・限界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029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・意思決定は人間が必要（UIレイアウト、名称決定、ビジネス判断）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・外部サービス連携のデバッグは試行錯誤が必要（Stripe CORS問題、Firebase認証等）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・モバイル実機でのUI確認はAIでは不可能 → 人間による操作性テストが不可欠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5. 開発手法別 — AI駆動開発の効果比較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スクラッチ開発で最大効果、ローコード/ノーコードでは限定的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27432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スクラッチ開発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00A35E"/>
                </a:solidFill>
                <a:latin typeface="Yu Gothic"/>
              </a:defRPr>
            </a:pPr>
            <a:r>
              <a:t>効果: 最大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AIがコードを直接生成・修正できるため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全工程で大幅な生産性向上を実現。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未経験技術でも即日開発可能。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73152" cy="2743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パッケージ開発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459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007ACC"/>
                </a:solidFill>
                <a:latin typeface="Yu Gothic"/>
              </a:defRPr>
            </a:pPr>
            <a:r>
              <a:t>効果: 中程度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カスタマイズ部分のコード生成は有効。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パッケージ固有の制約・仕様理解が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必要なため、効果は領域に依存。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73152" cy="2743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801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ローコード / ノーコード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645920"/>
            <a:ext cx="338327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E86C00"/>
                </a:solidFill>
                <a:latin typeface="Yu Gothic"/>
              </a:defRPr>
            </a:pPr>
            <a:r>
              <a:t>効果: 限定的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GUI操作中心のためAIがコードを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直接生成する余地が少ない。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ただし上流工程での活用は可能。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74320" y="41148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292608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AI活用領域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スクラッチ開発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パッケージ開発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ローコード/ノーコード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コード生成・実装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最大効果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カスタマイズ部分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△ 数式・スクリプト程度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テスト自動生成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全テスト生成可能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カスタム部分のテスト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× 対象外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設計・アーキテクチャ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提案〜実装まで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拡張設計の支援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△ 設計レビューは可能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要件定義・仕様検討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壁打ち〜文書生成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壁打ち〜文書生成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壁打ち〜文書生成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ドキュメント作成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自動生成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自動生成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手順書・仕様書作成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CI/CD・品質基盤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構築〜運用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部分的に構築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× 対象外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学習コスト削減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未経験技術でも即開発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パッケージ仕様の理解支援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△ 効果小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ローコード/ノーコード開発でもAIが活きる領域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コード生成以外にもAI駆動開発の恩恵は受けられる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53035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AI活用が有効な領域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00A35E"/>
                </a:solidFill>
                <a:latin typeface="Yu Gothic"/>
              </a:defRPr>
            </a:pPr>
            <a:r>
              <a:t>◎ 設計レビュー・壁打ち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画面設計・データモデルの妥当性チェック、要件の抜け漏れ検出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spcAft>
                <a:spcPts val="700"/>
              </a:spcAft>
              <a:defRPr sz="1700" b="1">
                <a:solidFill>
                  <a:srgbClr val="00A35E"/>
                </a:solidFill>
                <a:latin typeface="Yu Gothic"/>
              </a:defRPr>
            </a:pPr>
            <a:r>
              <a:t>◎ 要件定義・仕様書の作成支援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業務フロー整理、非機能要件の網羅的な洗い出し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spcAft>
                <a:spcPts val="700"/>
              </a:spcAft>
              <a:defRPr sz="1700" b="1">
                <a:solidFill>
                  <a:srgbClr val="00A35E"/>
                </a:solidFill>
                <a:latin typeface="Yu Gothic"/>
              </a:defRPr>
            </a:pPr>
            <a:r>
              <a:t>◎ ドキュメント作成・レビュー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運用手順書、テスト仕様書、操作マニュアルの生成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spcAft>
                <a:spcPts val="700"/>
              </a:spcAft>
              <a:defRPr sz="1700" b="1">
                <a:solidFill>
                  <a:srgbClr val="007ACC"/>
                </a:solidFill>
                <a:latin typeface="Yu Gothic"/>
              </a:defRPr>
            </a:pPr>
            <a:r>
              <a:t>○ 数式・関数・スクリプトの生成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Power Fxの数式作成、Power Automateのフロー設計支援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spcAft>
                <a:spcPts val="700"/>
              </a:spcAft>
              <a:defRPr sz="1700" b="1">
                <a:solidFill>
                  <a:srgbClr val="007ACC"/>
                </a:solidFill>
                <a:latin typeface="Yu Gothic"/>
              </a:defRPr>
            </a:pPr>
            <a:r>
              <a:t>○ トラブルシューティング支援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エラーメッセージの解析、設定ミスの特定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669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73152" cy="32004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3333"/>
                </a:solidFill>
                <a:latin typeface="Yu Gothic"/>
              </a:defRPr>
            </a:pPr>
            <a:r>
              <a:t>AI活用が難しい領域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CC3333"/>
                </a:solidFill>
                <a:latin typeface="Yu Gothic"/>
              </a:defRPr>
            </a:pPr>
            <a:r>
              <a:t>× GUI操作の自動化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ドラッグ&amp;ドロップ等のUI操作はAIの対象外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spcAft>
                <a:spcPts val="700"/>
              </a:spcAft>
              <a:defRPr sz="1700" b="1">
                <a:solidFill>
                  <a:srgbClr val="CC3333"/>
                </a:solidFill>
                <a:latin typeface="Yu Gothic"/>
              </a:defRPr>
            </a:pPr>
            <a:r>
              <a:t>× プラットフォーム固有の設定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接続設定、権限管理、環境構築はGUI操作が必要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spcAft>
                <a:spcPts val="700"/>
              </a:spcAft>
              <a:defRPr sz="1700" b="1">
                <a:solidFill>
                  <a:srgbClr val="CC3333"/>
                </a:solidFill>
                <a:latin typeface="Yu Gothic"/>
              </a:defRPr>
            </a:pPr>
            <a:r>
              <a:t>× テスト自動生成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テストコードという概念がないため自動テスト生成は不可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572000"/>
            <a:ext cx="56692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572000"/>
            <a:ext cx="73152" cy="1920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ポイント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029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ローコード/ノーコード開発でも、上流工程（企画・</a:t>
            </a:r>
          </a:p>
          <a:p>
            <a:pPr algn="l"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要件定義・設計）やドキュメント作成ではAIの恩恵</a:t>
            </a:r>
          </a:p>
          <a:p>
            <a:pPr algn="l"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を十分に受けられる。</a:t>
            </a:r>
          </a:p>
          <a:p>
            <a:pPr algn="l">
              <a:spcAft>
                <a:spcPts val="750"/>
              </a:spcAft>
              <a:defRPr sz="1500" b="1">
                <a:solidFill>
                  <a:srgbClr val="007ACC"/>
                </a:solidFill>
                <a:latin typeface="Yu Gothic"/>
              </a:defRPr>
            </a:pPr>
            <a:r>
              <a:t>「コードを書かない開発 = AI不要」ではない。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なぜスクラッチ開発でAI駆動開発の効果が最大化するか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AIの強みとスクラッチ開発の特性が最も合致する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コードの直接生成・修正が可能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スクラッチ開発はテキストベースのコードが成果物。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AIが直接コードを読み・書き・修正できるため、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生産速度23〜46倍という圧倒的効果が出る。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ローコードのGUI操作はAIの介入余地がない。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73152" cy="22860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未経験技術の学習コストがゼロに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459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新技術の習得に1〜2ヶ月が必要。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設計と実装をAIが同時に実行。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Flutter未経験でも初日からプロダクションコード生成。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ローコードは学習コストが元々低く差が出にくい。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4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74904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テスト・品質基盤の自動構築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スクラッチ: 813テストケース・CI/CDを自動構築。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テスト作成の「心理的障壁」がゼロに。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ローコード: テストコードの概念がないため、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この領域ではAIの強みを活かせない。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74904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749040"/>
            <a:ext cx="73152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全工程を一気通貫で自動化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062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スクラッチ: 設計→コード→テスト→CI/CDを一貫実行。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工程間の受け渡しロスがなく、90%の期間短縮。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ローコード: 実装はGUI、テストは手動と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工程が分断されAIによる一貫自動化が困難。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6. Claude Code 習熟度レベル（5段階）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レベルが上がるほど「人間の繰り返し指示」がシステムに吸収される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1371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素のプロンプト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毎回ルールを手動入力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2011680" cy="1371600"/>
          </a:xfrm>
          <a:prstGeom prst="rect">
            <a:avLst/>
          </a:prstGeom>
          <a:solidFill>
            <a:srgbClr val="99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+ CLAUDE.md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ルール自動読み込み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011680" cy="1371600"/>
          </a:xfrm>
          <a:prstGeom prst="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+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手順のオンデマンド注入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371600"/>
            <a:ext cx="2011680" cy="1371600"/>
          </a:xfrm>
          <a:prstGeom prst="rect">
            <a:avLst/>
          </a:prstGeom>
          <a:solidFill>
            <a:srgbClr val="33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+ 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品質チェック自動実行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011680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+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並行レビュー自動実行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32004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9319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状況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推奨レベル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Claude Code を試しに使ってみる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1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プロジェクトのルールを毎回伝えるのが面倒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同じ作業手順を何度も説明している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3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静的解析・テストを毎回手動で頼んでいる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セキュリティ・パフォーマンスレビューを毎回依頼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Claude Code レベル別構成要素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各レベルで追加される仕組みの詳細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7607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2468880"/>
          </a:xfrm>
          <a:prstGeom prst="rect">
            <a:avLst/>
          </a:prstGeom>
          <a:solidFill>
            <a:srgbClr val="99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9BBDD"/>
                </a:solidFill>
                <a:latin typeface="Yu Gothic"/>
              </a:defRPr>
            </a:pPr>
            <a:r>
              <a:t>Level 2: 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プロジェクトルートに配置するルールファイル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セッション開始時に自動読み込み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設計原則: 150行以内（要約のみ）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詳細手順はSkillsに移行しコスト最適化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6692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73152" cy="2468880"/>
          </a:xfrm>
          <a:prstGeom prst="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99CC"/>
                </a:solidFill>
                <a:latin typeface="Yu Gothic"/>
              </a:defRPr>
            </a:pPr>
            <a:r>
              <a:t>Level 3: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.claude/skills/ に手順書を配置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/fix-issue, /release 等コマンドで呼び出し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使用時のみトークン消費（未使用時コスト0）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「2回言ったら自動化する」原則で作成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57607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73152" cy="2468880"/>
          </a:xfrm>
          <a:prstGeom prst="rect">
            <a:avLst/>
          </a:prstGeom>
          <a:solidFill>
            <a:srgbClr val="33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31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77BB"/>
                </a:solidFill>
                <a:latin typeface="Yu Gothic"/>
              </a:defRPr>
            </a:pPr>
            <a:r>
              <a:t>Level 4: Hooks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settings.json で自動実行ルールを定義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PostToolUse: ファイル編集後に自動フォーマット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Stop: セッション終了時に品質ゲート実行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command型（確実実行）+ prompt型（AI判断）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6692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73152" cy="24688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Level 5: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.claude/agents/ にレビュー定義を配置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独立サブプロセスとして並行実行可能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security-reviewer / performance-reviewer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label-checker（ハードコード文字列検出）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7. トークンコスト最適化の実測値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Level 5 で Level 1 比 73%のコスト削減を達成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182880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レベル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毎セッション固定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作業指示コスト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合計（相対値）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Level 1比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1 (Raw)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約5,000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基準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2 (CLAUDE.md)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約3,500 tokens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約1,300 tokens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0.96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-4%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3 (+ Skills)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約1,300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約500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-64%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4 (+ Hooks)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約1,300 tokens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約350 tokens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0.33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-67%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5 (+ Agents)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約1,300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約50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-73%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84632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846320"/>
            <a:ext cx="73152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Before (Level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毎セッション読み込み: 16,574 bytes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CLAUDE.md に全手順を詰め込み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84632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846320"/>
            <a:ext cx="73152" cy="16459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4937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After (Level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53035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毎セッション固定: 3,454 bytes (-79%)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オンデマンド: 7,195 bytes (未使用時コスト0)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品質チェックの自動化マトリクス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Level 4-5 で全品質チェックが自動化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651760"/>
                <a:gridCol w="2651760"/>
                <a:gridCol w="27432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品質チェック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Level 1-2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Level 3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Level 4-5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コードフォーマット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自動（Hook）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静的解析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Skill内に手順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テスト実行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Skill内に手順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自動（Hook）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禁止語検出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気づいた時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Skill内に手順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横展開チェック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気づいた時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Skill内に手順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 prompt）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セキュリティチェック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気づいた時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自動（Agent）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パフォーマンスチェック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気づいた時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自動（Agent）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Yu Gothic"/>
              </a:defRPr>
            </a:pPr>
            <a:r>
              <a:t>品質ゲート: ファイル編集 → 自動フォーマット → 開発継続 → セッション終了時に全チェック自動実行 → 問題があれば自動修正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8. AI駆動開発の設計原則とベストプラクティス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CLAUDE.md は「ルールブック」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手順書ではなくルールの要約のみ（150行以内）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詳細手順はSkillsに移行しコスト最適化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73152" cy="22860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「2回言ったら自動化する」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1回目: プロンプトで指示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2回目: Skill化 or Hook化を検討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毎回: Hook（自動実行）に昇格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AIへの指示の最適粒度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×「いい感じにして」→ AIが迷走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○「サブスク解約の仕組みを作って」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×「45行目にif文追加」→ AI設計力を活かせず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490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49040"/>
            <a:ext cx="73152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レビューの3観点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① 意図通りか（動作確認）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② 副作用がないか（テスト結果）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③ 設計が妥当か（差分の俯瞰）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よくある失敗パターン（アンチパターン）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CLAUDE.md の肥大化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症状: 全手順を詰め込み毎セッション7,000bytes超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影響: トークンコスト26%増加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対策: 150行以内。詳細はSkillsへ移行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Hookの過剰設定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症状: 全チェックをHookに入れ終了時5分超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影響: 開発の流れが止まる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対策: 必須チェックのみ。低頻度はAgent化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AIに全てを任せる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症状: 「いい感じにリファクタリングして」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影響: 不要な変更、意図しないファイル修正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対策: 「何を」「なぜ」を明確に。「どう」はAIに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490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4904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AIの出力を検証しない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症状: 生成コードをそのままコミット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影響: 実機UI崩れ、外部連携不具合の見逃し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対策: ローカル動作確認。UI操作性は人間が必ず確認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9. 他プロジェクトへの展開方法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テンプレートリポジトリによる段階的導入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rgbClr val="99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Level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CLAUDE.md を配置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60320" cy="2011680"/>
          </a:xfrm>
          <a:prstGeom prst="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Level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Skills を追加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560320" cy="2011680"/>
          </a:xfrm>
          <a:prstGeom prst="rect">
            <a:avLst/>
          </a:prstGeom>
          <a:solidFill>
            <a:srgbClr val="33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Level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Hooks を追加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371600"/>
            <a:ext cx="2560320" cy="20116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Level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Agents を追加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73152" cy="25603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931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テンプレートリポジトリ（ClaudeCodeTemplate）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97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・Level 5 構成をテンプレート化済み。プレースホルダーを置換するだけで導入可能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・プレースホルダー: {{PROJECT_NAME}}, {{TECH_STACK}}, {{TEST_COMMAND}}, {{BUILD_COMMAND}} 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・一気にLevel 5を目指さない。プロジェクトの課題が見えてから段階的に追加する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・導入: git clone → setup.sh 実行 → 生成ファイルをプロジェクトに配置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10. 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開発生産性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007ACC"/>
                </a:solidFill>
                <a:latin typeface="Yu Gothic"/>
              </a:defRPr>
            </a:pPr>
            <a:r>
              <a:t>6〜9倍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の期間短縮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666666"/>
                </a:solidFill>
                <a:latin typeface="Yu Gothic"/>
              </a:defRPr>
            </a:pPr>
            <a:r>
              <a:t>コード生産速度 23〜46倍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73152" cy="22860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品質向上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00A35E"/>
                </a:solidFill>
                <a:latin typeface="Yu Gothic"/>
              </a:defRPr>
            </a:pPr>
            <a:r>
              <a:t>813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テストケース自動生成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666666"/>
                </a:solidFill>
                <a:latin typeface="Yu Gothic"/>
              </a:defRPr>
            </a:pPr>
            <a:r>
              <a:t>テスト密度 6倍以上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コスト最適化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E86C00"/>
                </a:solidFill>
                <a:latin typeface="Yu Gothic"/>
              </a:defRPr>
            </a:pPr>
            <a:r>
              <a:t>-73%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トークンコスト削減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666666"/>
                </a:solidFill>
                <a:latin typeface="Yu Gothic"/>
              </a:defRPr>
            </a:pPr>
            <a:r>
              <a:t>Level 5 最適化による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12471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73152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4047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結論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06239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AI駆動開発は「スクラッチ開発」で最大の効果を発揮する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スクラッチ開発: コード生成〜テスト〜CI/CDまで全工程をAIが一貫支援。6〜9倍の期間短縮。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ローコード/ノーコード: コード生成の恩恵は限定的だが、設計レビュー・要件定義・ドキュメント作成では有効。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spcAft>
                <a:spcPts val="700"/>
              </a:spcAft>
              <a:defRPr sz="1500" b="1">
                <a:solidFill>
                  <a:srgbClr val="007ACC"/>
                </a:solidFill>
                <a:latin typeface="Yu Gothic"/>
              </a:defRPr>
            </a:pPr>
            <a:r>
              <a:t>AIは「人間の意思決定を高速に具現化するエンジン」。ビジョン・ドメイン設計・UX判断は引き続き人間の役割。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今後の活動予定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2026年6月まで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4月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・本レポートの社内展開</a:t>
            </a:r>
          </a:p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・テンプレートリポジトリの整備</a:t>
            </a:r>
          </a:p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・他プロジェクトへの試験導入開始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474720" cy="7315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5月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・試験導入プロジェクトの効果測定</a:t>
            </a:r>
          </a:p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・ナレッジの蓄積・更新</a:t>
            </a:r>
          </a:p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・導入ガイドラインの策定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474720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6月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・最終成果報告</a:t>
            </a:r>
          </a:p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・全社展開の提案</a:t>
            </a:r>
          </a:p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・活動の振り返り・引き継ぎ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