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5" r:id="rId2"/>
    <p:sldId id="29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8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371600"/>
            <a:ext cx="100584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Yu Gothic"/>
              </a:defRPr>
            </a:pPr>
            <a:r>
              <a:rPr dirty="0" err="1"/>
              <a:t>AIタスクフォース</a:t>
            </a:r>
            <a:r>
              <a:rPr dirty="0"/>
              <a:t> </a:t>
            </a:r>
            <a:r>
              <a:rPr dirty="0" err="1"/>
              <a:t>成果報告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BBCCDD"/>
                </a:solidFill>
                <a:latin typeface="Yu Gothic"/>
              </a:defRPr>
            </a:pP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AI駆動開発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と従来の開発との比較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 — 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個人開発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による実証実験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0" y="3474720"/>
            <a:ext cx="4876495" cy="27432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  <a:latin typeface="Yu Gothic"/>
              </a:defRPr>
            </a:pPr>
            <a:r>
              <a:rPr dirty="0"/>
              <a:t>2026年4月</a:t>
            </a:r>
            <a:r>
              <a:rPr lang="en-US" dirty="0"/>
              <a:t>8</a:t>
            </a:r>
            <a:r>
              <a:rPr dirty="0"/>
              <a:t>日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4F0C8127-462F-EFB3-0776-C13CCC455A04}"/>
              </a:ext>
            </a:extLst>
          </p:cNvPr>
          <p:cNvSpPr txBox="1"/>
          <p:nvPr/>
        </p:nvSpPr>
        <p:spPr>
          <a:xfrm>
            <a:off x="914400" y="4324815"/>
            <a:ext cx="10058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AABB"/>
                </a:solidFill>
                <a:latin typeface="Yu Gothic"/>
              </a:defRPr>
            </a:pPr>
            <a:r>
              <a:rPr lang="ja-JP" altLang="en-US" dirty="0"/>
              <a:t>第二システム部　須山</a:t>
            </a:r>
            <a:r>
              <a:rPr lang="en-US" altLang="ja-JP" dirty="0"/>
              <a:t> </a:t>
            </a:r>
            <a:r>
              <a:rPr lang="ja-JP" altLang="en-US" dirty="0"/>
              <a:t>哲平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8899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アジェンダ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結論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実証実験の概要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AI駆動開発 vs 従来開発 — 定量比較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開発ライフサイクル別の効果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品質面での比較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AI駆動開発における人間とAIの役割分担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開発手法別 — AI駆動開発の効果比較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ローコード/ノーコード開発でもAIが活きる領域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marL="457200" indent="-457200">
              <a:spcAft>
                <a:spcPts val="1539"/>
              </a:spcAft>
              <a:buFont typeface="+mj-lt"/>
              <a:buAutoNum type="arabicPeriod"/>
              <a:defRPr sz="2200" b="0">
                <a:solidFill>
                  <a:srgbClr val="333333"/>
                </a:solidFill>
                <a:latin typeface="Yu Gothic"/>
              </a:defRPr>
            </a:pP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なぜスクラッチ開発でAI駆動開発の効果が最大化するか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00314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 Bar"/>
          <p:cNvSpPr/>
          <p:nvPr/>
        </p:nvSpPr>
        <p:spPr>
          <a:xfrm>
            <a:off x="0" y="0"/>
            <a:ext cx="12192000" cy="1003300"/>
          </a:xfrm>
          <a:prstGeom prst="rect">
            <a:avLst/>
          </a:prstGeom>
          <a:solidFill>
            <a:srgbClr val="1A2332"/>
          </a:solidFill>
          <a:ln>
            <a:noFill/>
          </a:ln>
        </p:spPr>
        <p:txBody>
          <a:bodyPr wrap="square" anchor="ctr"/>
          <a:lstStyle/>
          <a:p>
            <a:endParaRPr lang="ja-JP"/>
          </a:p>
        </p:txBody>
      </p:sp>
      <p:sp>
        <p:nvSpPr>
          <p:cNvPr id="101" name="Title"/>
          <p:cNvSpPr/>
          <p:nvPr/>
        </p:nvSpPr>
        <p:spPr>
          <a:xfrm>
            <a:off x="736600" y="139700"/>
            <a:ext cx="100584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rPr lang="ja-JP" sz="3000" b="1" dirty="0">
                <a:solidFill>
                  <a:srgbClr val="FFFFFF"/>
                </a:solidFill>
                <a:latin typeface="Yu Gothic"/>
                <a:ea typeface="Yu Gothic"/>
              </a:rPr>
              <a:t>1. 結論</a:t>
            </a:r>
          </a:p>
        </p:txBody>
      </p:sp>
      <p:sp>
        <p:nvSpPr>
          <p:cNvPr id="102" name="Subtitle"/>
          <p:cNvSpPr/>
          <p:nvPr/>
        </p:nvSpPr>
        <p:spPr>
          <a:xfrm>
            <a:off x="736600" y="596900"/>
            <a:ext cx="100584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rPr lang="ja-JP" sz="1600" dirty="0">
                <a:solidFill>
                  <a:srgbClr val="BBCCDD"/>
                </a:solidFill>
                <a:latin typeface="Yu Gothic"/>
                <a:ea typeface="Yu Gothic"/>
              </a:rPr>
              <a:t>AI駆動開発は「速度」と「品質」の両方を劇的に向上させる</a:t>
            </a:r>
          </a:p>
        </p:txBody>
      </p:sp>
      <p:sp>
        <p:nvSpPr>
          <p:cNvPr id="110" name="Card 110"/>
          <p:cNvSpPr/>
          <p:nvPr/>
        </p:nvSpPr>
        <p:spPr>
          <a:xfrm>
            <a:off x="457200" y="1282700"/>
            <a:ext cx="3632200" cy="2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1" name="Accent 111"/>
          <p:cNvSpPr/>
          <p:nvPr/>
        </p:nvSpPr>
        <p:spPr>
          <a:xfrm>
            <a:off x="457200" y="1282700"/>
            <a:ext cx="76200" cy="2540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12" name="CardTitle 112"/>
          <p:cNvSpPr/>
          <p:nvPr/>
        </p:nvSpPr>
        <p:spPr>
          <a:xfrm>
            <a:off x="685800" y="1371600"/>
            <a:ext cx="3251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800" b="1" dirty="0">
                <a:solidFill>
                  <a:srgbClr val="007ACC"/>
                </a:solidFill>
                <a:latin typeface="Yu Gothic"/>
                <a:ea typeface="Yu Gothic"/>
              </a:rPr>
              <a:t>開発生産性</a:t>
            </a:r>
          </a:p>
        </p:txBody>
      </p:sp>
      <p:sp>
        <p:nvSpPr>
          <p:cNvPr id="113" name="CardBody 113"/>
          <p:cNvSpPr/>
          <p:nvPr/>
        </p:nvSpPr>
        <p:spPr>
          <a:xfrm>
            <a:off x="685800" y="1739900"/>
            <a:ext cx="3251200" cy="199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Aft>
                <a:spcPts val="500"/>
              </a:spcAft>
            </a:pPr>
            <a:r>
              <a:rPr lang="ja-JP" sz="1600" b="1" dirty="0">
                <a:solidFill>
                  <a:srgbClr val="1A2332"/>
                </a:solidFill>
                <a:latin typeface="Yu Gothic"/>
                <a:ea typeface="Yu Gothic"/>
              </a:rPr>
              <a:t>6〜9倍の期間短縮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・全工程で70〜95%短縮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・テスト工程: 90〜95%短縮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・開発工程: 85〜95%短縮</a:t>
            </a:r>
          </a:p>
        </p:txBody>
      </p:sp>
      <p:sp>
        <p:nvSpPr>
          <p:cNvPr id="120" name="Card 120"/>
          <p:cNvSpPr/>
          <p:nvPr/>
        </p:nvSpPr>
        <p:spPr>
          <a:xfrm>
            <a:off x="4279900" y="1282700"/>
            <a:ext cx="3632200" cy="2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1" name="Accent 121"/>
          <p:cNvSpPr/>
          <p:nvPr/>
        </p:nvSpPr>
        <p:spPr>
          <a:xfrm>
            <a:off x="4279900" y="1282700"/>
            <a:ext cx="76200" cy="2540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22" name="CardTitle 122"/>
          <p:cNvSpPr/>
          <p:nvPr/>
        </p:nvSpPr>
        <p:spPr>
          <a:xfrm>
            <a:off x="4508500" y="1371600"/>
            <a:ext cx="3251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800" b="1" dirty="0">
                <a:solidFill>
                  <a:srgbClr val="00A35E"/>
                </a:solidFill>
                <a:latin typeface="Yu Gothic"/>
                <a:ea typeface="Yu Gothic"/>
              </a:rPr>
              <a:t>品質向上</a:t>
            </a:r>
          </a:p>
        </p:txBody>
      </p:sp>
      <p:sp>
        <p:nvSpPr>
          <p:cNvPr id="123" name="CardBody 123"/>
          <p:cNvSpPr/>
          <p:nvPr/>
        </p:nvSpPr>
        <p:spPr>
          <a:xfrm>
            <a:off x="4508500" y="1739900"/>
            <a:ext cx="3251200" cy="199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Aft>
                <a:spcPts val="500"/>
              </a:spcAft>
            </a:pPr>
            <a:r>
              <a:rPr lang="ja-JP" sz="1600" b="1" dirty="0">
                <a:solidFill>
                  <a:srgbClr val="1A2332"/>
                </a:solidFill>
                <a:latin typeface="Yu Gothic"/>
                <a:ea typeface="Yu Gothic"/>
              </a:rPr>
              <a:t>速度と品質を両立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・テスト813ケース全件パス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・AI駆動開発は速度だけでなく品質も向上させる</a:t>
            </a:r>
          </a:p>
        </p:txBody>
      </p:sp>
      <p:sp>
        <p:nvSpPr>
          <p:cNvPr id="130" name="Card 130"/>
          <p:cNvSpPr/>
          <p:nvPr/>
        </p:nvSpPr>
        <p:spPr>
          <a:xfrm>
            <a:off x="8102600" y="1282700"/>
            <a:ext cx="3632200" cy="2540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31" name="Accent 131"/>
          <p:cNvSpPr/>
          <p:nvPr/>
        </p:nvSpPr>
        <p:spPr>
          <a:xfrm>
            <a:off x="8102600" y="1282700"/>
            <a:ext cx="76200" cy="2540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32" name="CardTitle 132"/>
          <p:cNvSpPr/>
          <p:nvPr/>
        </p:nvSpPr>
        <p:spPr>
          <a:xfrm>
            <a:off x="8331200" y="1371600"/>
            <a:ext cx="32512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800" b="1" dirty="0">
                <a:solidFill>
                  <a:srgbClr val="E86C00"/>
                </a:solidFill>
                <a:latin typeface="Yu Gothic"/>
                <a:ea typeface="Yu Gothic"/>
              </a:rPr>
              <a:t>最適な適用領域</a:t>
            </a:r>
          </a:p>
        </p:txBody>
      </p:sp>
      <p:sp>
        <p:nvSpPr>
          <p:cNvPr id="133" name="CardBody 133"/>
          <p:cNvSpPr/>
          <p:nvPr/>
        </p:nvSpPr>
        <p:spPr>
          <a:xfrm>
            <a:off x="8331200" y="1739900"/>
            <a:ext cx="3251200" cy="1993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Aft>
                <a:spcPts val="500"/>
              </a:spcAft>
            </a:pPr>
            <a:r>
              <a:rPr lang="ja-JP" sz="1600" b="1" dirty="0">
                <a:solidFill>
                  <a:srgbClr val="1A2332"/>
                </a:solidFill>
                <a:latin typeface="Yu Gothic"/>
                <a:ea typeface="Yu Gothic"/>
              </a:rPr>
              <a:t>スクラッチ開発で最大効果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・ローコード/ノーコードでは限定的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・未経験技術の学習コストがゼロに</a:t>
            </a:r>
          </a:p>
        </p:txBody>
      </p:sp>
      <p:sp>
        <p:nvSpPr>
          <p:cNvPr id="140" name="Summary BG"/>
          <p:cNvSpPr/>
          <p:nvPr/>
        </p:nvSpPr>
        <p:spPr>
          <a:xfrm>
            <a:off x="457200" y="4114800"/>
            <a:ext cx="11277600" cy="2286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41" name="Summary Accent"/>
          <p:cNvSpPr/>
          <p:nvPr/>
        </p:nvSpPr>
        <p:spPr>
          <a:xfrm>
            <a:off x="457200" y="4114800"/>
            <a:ext cx="76200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txBody>
          <a:bodyPr/>
          <a:lstStyle/>
          <a:p>
            <a:endParaRPr lang="ja-JP"/>
          </a:p>
        </p:txBody>
      </p:sp>
      <p:sp>
        <p:nvSpPr>
          <p:cNvPr id="142" name="Summary Title"/>
          <p:cNvSpPr/>
          <p:nvPr/>
        </p:nvSpPr>
        <p:spPr>
          <a:xfrm>
            <a:off x="685800" y="4203700"/>
            <a:ext cx="109220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/>
            <a:r>
              <a:rPr lang="ja-JP" sz="1800" b="1" dirty="0">
                <a:solidFill>
                  <a:srgbClr val="007ACC"/>
                </a:solidFill>
                <a:latin typeface="Yu Gothic"/>
                <a:ea typeface="Yu Gothic"/>
              </a:rPr>
              <a:t>示唆</a:t>
            </a:r>
          </a:p>
        </p:txBody>
      </p:sp>
      <p:sp>
        <p:nvSpPr>
          <p:cNvPr id="143" name="Summary Body"/>
          <p:cNvSpPr/>
          <p:nvPr/>
        </p:nvSpPr>
        <p:spPr>
          <a:xfrm>
            <a:off x="685800" y="4572000"/>
            <a:ext cx="10922000" cy="1739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AI駆動開発は、特にスクラッチ開発において従来比6〜9倍の生産性向上を実現し、品質面でも向上が見られた。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未経験技術であっても学習コストをほぼゼロにできるため、技術選定の自由度が大幅に拡大する。</a:t>
            </a:r>
          </a:p>
          <a:p>
            <a:pPr>
              <a:spcAft>
                <a:spcPts val="500"/>
              </a:spcAft>
            </a:pPr>
            <a:r>
              <a:rPr lang="ja-JP" sz="1400" dirty="0">
                <a:solidFill>
                  <a:srgbClr val="333333"/>
                </a:solidFill>
                <a:latin typeface="Yu Gothic"/>
                <a:ea typeface="Yu Gothic"/>
              </a:rPr>
              <a:t>ローコード/ノーコード開発でもコード生成以外の領域（設計・テスト・ドキュメント）でAIの恩恵を受けられる。</a:t>
            </a:r>
          </a:p>
        </p:txBody>
      </p:sp>
    </p:spTree>
    <p:extLst>
      <p:ext uri="{BB962C8B-B14F-4D97-AF65-F5344CB8AC3E}">
        <p14:creationId xmlns:p14="http://schemas.microsoft.com/office/powerpoint/2010/main" val="255567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2. 実証実験の概要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rPr dirty="0" err="1"/>
              <a:t>個人開発アプリ「ユメハシ（YumeHashi</a:t>
            </a:r>
            <a:r>
              <a:rPr dirty="0"/>
              <a:t>）」</a:t>
            </a:r>
            <a:r>
              <a:rPr dirty="0" err="1"/>
              <a:t>での検証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開発者プロフィール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937760" cy="1833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IT業界経験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約</a:t>
            </a: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5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年</a:t>
            </a:r>
            <a:endParaRPr lang="en-US" altLang="ja-JP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パッケージ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/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ローコード開発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約3年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スクラッチ開発経験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約</a:t>
            </a:r>
            <a:r>
              <a:rPr lang="en-US" altLang="ja-JP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r>
              <a:rPr lang="ja-JP" altLang="en-US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年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・Flutter/Dart/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モバイル開発</a:t>
            </a:r>
            <a:r>
              <a:rPr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: </a:t>
            </a:r>
            <a:r>
              <a:rPr dirty="0" err="1">
                <a:latin typeface="游ゴシック" panose="020B0400000000000000" pitchFamily="50" charset="-128"/>
                <a:ea typeface="游ゴシック" panose="020B0400000000000000" pitchFamily="50" charset="-128"/>
              </a:rPr>
              <a:t>未経験</a:t>
            </a:r>
            <a:endParaRPr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endParaRPr dirty="0"/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/>
              <a:t>→ </a:t>
            </a:r>
            <a:r>
              <a:rPr dirty="0" err="1"/>
              <a:t>未経験技術でのスクラッチ開発に挑戦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03520" cy="2560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73152" cy="25603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1371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プロジェクト規模（実績）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1737360"/>
            <a:ext cx="4937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・開発期間: 29日間（実稼働21日）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・総コード: 47,900行 / 200ファイル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・テスト: 813ケース（全件パス）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・主要機能: 32機能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・コミット: 105回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420624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ユメハシ（YumeHashi）アプリとは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8813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夢 → 目標 → タスクの階層で人生の目標を管理するWebアプリ。ゲーミフィケーション（星座システム）、Stripe決済連携、Firebase同期など32機能を搭載。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技術スタック: Flutter / Dart / Drift ORM / Riverpod / Firebase / Stripe / GitHub Actions</a:t>
            </a: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990A9372-939F-34FF-6A49-F07EEA3F5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704" y="1371600"/>
            <a:ext cx="1557470" cy="1565296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0A6F45A6-3A6A-CCF0-D15C-80CB77BD9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0877" y="4789784"/>
            <a:ext cx="1588428" cy="156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3. AI駆動開発 vs 従来開発 — 定量比較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同一開発者・同一プロジェクトでの比較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指標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AI駆動開発（実績）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従来開発（推定）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効果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開発期間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29日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6〜9倍短縮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実稼働日数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120〜180日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6〜9倍短縮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コード生産速度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2,281行/日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50〜100行/日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23〜46倍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学習コスト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0日（</a:t>
                      </a:r>
                      <a:r>
                        <a:rPr lang="ja-JP" altLang="en-US" dirty="0">
                          <a:latin typeface="游ゴシック" panose="020B0400000000000000" pitchFamily="50" charset="-128"/>
                          <a:ea typeface="游ゴシック" panose="020B0400000000000000" pitchFamily="50" charset="-128"/>
                        </a:rPr>
                        <a:t>事前学習コスト</a:t>
                      </a:r>
                      <a:r>
                        <a:rPr dirty="0"/>
                        <a:t>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1〜2ヶ月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完全省略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テスト密度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16.9件/KLOC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0〜3件/KLOC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6倍以上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32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コスト効率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21人日 + AI利用料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120〜180人日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6〜9倍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Yu Gothic"/>
              </a:defRPr>
            </a:pPr>
            <a:r>
              <a:t>※ 従来開発の推定値は IPA SEC「ソフトウェア開発データ白書」およびCOCOMO IIモデルに基づく</a:t>
            </a:r>
          </a:p>
        </p:txBody>
      </p:sp>
    </p:spTree>
    <p:extLst>
      <p:ext uri="{BB962C8B-B14F-4D97-AF65-F5344CB8AC3E}">
        <p14:creationId xmlns:p14="http://schemas.microsoft.com/office/powerpoint/2010/main" val="189839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4. 開発ライフサイクル別の効果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全工程で70〜95%の期間短縮を実現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28016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工程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AI駆動（実績）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従来開発（推定）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短縮率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AIの主な貢献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企画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1〜2週間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70〜85%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競合分析・機能案のブレスト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要件定義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2〜4週間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網羅性チェック・非機能要件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仕様検討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3〜6週間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画面仕様・データモデル整理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設計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1日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2〜4週間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80〜90%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アーキテクチャ・DB設計提案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開発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14日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3〜6ヶ月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85〜95%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コード生成・リファクタリング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2日（並行）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1〜2ヶ月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90〜95%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813テストケース自動生成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合計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約21日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約7〜14ヶ月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約90%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Yu Gothic"/>
              </a:defRPr>
            </a:pPr>
            <a:r>
              <a:t>最大の効果: テスト（90〜95%短縮）と開発（85〜95%短縮）。未経験技術の学習コストがゼロになる点が最大の寄与。</a:t>
            </a:r>
          </a:p>
        </p:txBody>
      </p:sp>
    </p:spTree>
    <p:extLst>
      <p:ext uri="{BB962C8B-B14F-4D97-AF65-F5344CB8AC3E}">
        <p14:creationId xmlns:p14="http://schemas.microsoft.com/office/powerpoint/2010/main" val="1785436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5. 品質面での比較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AI駆動開発は速度だけでなく品質も向上させる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73152" cy="210312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テスト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813テストケース（16.9件/KLOC）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0〜50件（0〜3件/KLOC）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テスト密度 6倍以上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73152" cy="21031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アーキテクチャ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3層分離（DAO/Service/Provider）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画面にロジック混在の可能性大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設計品質が初回から高い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73152" cy="21031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セキュリティ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8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XSS/インジェクション/バリデーション対応済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開発者の知識レベルに依存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OWASP Top10 を網羅的に自動対策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657600"/>
            <a:ext cx="53949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657600"/>
            <a:ext cx="73152" cy="21031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CI/CD・品質基盤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11480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GitHub Actions自動化、全テキスト外部化(750定数)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手動デプロイ、ハードコード中心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→ 品質基盤が開発と同時に構築される</a:t>
            </a:r>
          </a:p>
        </p:txBody>
      </p:sp>
    </p:spTree>
    <p:extLst>
      <p:ext uri="{BB962C8B-B14F-4D97-AF65-F5344CB8AC3E}">
        <p14:creationId xmlns:p14="http://schemas.microsoft.com/office/powerpoint/2010/main" val="3204538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6. AI駆動開発における人間とAIの役割分担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AIは「人間の意思決定を高速に具現化するエンジン」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37160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役割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人間が担うこと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AIが担うこと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何を作るか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プロダクトビジョン、ドメイン設計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どう作るか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最終的なUX判断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アーキテクチャ提案、技術選定、実装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品質保証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実機テスト、視認性確認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テスト生成、静的解析、セキュリティレビュー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リリース判断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コミット・プッシュの実行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チェックリスト自動実行、ブロッカー検出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4572000"/>
            <a:ext cx="106984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73152" cy="1828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663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AI駆動開発の課題・限界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・意思決定は人間が必要（UIレイアウト、名称決定、ビジネス判断）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・外部サービス連携のデバッグは試行錯誤が必要（Stripe CORS問題、Firebase認証等）</a:t>
            </a:r>
          </a:p>
          <a:p>
            <a:pPr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・モバイル実機でのUI確認はAIでは不可能 → 人間による操作性テストが不可欠</a:t>
            </a:r>
          </a:p>
        </p:txBody>
      </p:sp>
    </p:spTree>
    <p:extLst>
      <p:ext uri="{BB962C8B-B14F-4D97-AF65-F5344CB8AC3E}">
        <p14:creationId xmlns:p14="http://schemas.microsoft.com/office/powerpoint/2010/main" val="1063159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7. 開発手法別 — AI駆動開発の効果比較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スクラッチ開発で最大効果、ローコード/ノーコードでは限定的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7432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スクラッチ開発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291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0A35E"/>
                </a:solidFill>
                <a:latin typeface="Yu Gothic"/>
              </a:defRPr>
            </a:pPr>
            <a:r>
              <a:t>効果: 最大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AIがコードを直接生成・修正できるため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全工程で大幅な生産性向上を実現。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未経験技術でも即日開発可能。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188720"/>
            <a:ext cx="365760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06240" y="1188720"/>
            <a:ext cx="73152" cy="27432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34840" y="1280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パッケージ開発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645920"/>
            <a:ext cx="3291840" cy="223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007ACC"/>
                </a:solidFill>
                <a:latin typeface="Yu Gothic"/>
              </a:defRPr>
            </a:pPr>
            <a:r>
              <a:rPr dirty="0" err="1"/>
              <a:t>効果</a:t>
            </a:r>
            <a:r>
              <a:rPr dirty="0"/>
              <a:t>: </a:t>
            </a:r>
            <a:r>
              <a:rPr dirty="0" err="1"/>
              <a:t>中程度</a:t>
            </a:r>
            <a:endParaRPr dirty="0"/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カスタマイズ部分のコード生成は有効</a:t>
            </a:r>
            <a:r>
              <a:rPr dirty="0"/>
              <a:t>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パッケージ固有の制約・仕様理解が</a:t>
            </a: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必要なため、効果は領域に依存</a:t>
            </a:r>
            <a:r>
              <a:rPr dirty="0"/>
              <a:t>。</a:t>
            </a:r>
            <a:endParaRPr lang="en-US" dirty="0"/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br>
              <a:rPr lang="en-US" altLang="ja-JP" sz="1400" dirty="0"/>
            </a:br>
            <a:r>
              <a:rPr lang="en-US" altLang="ja-JP" sz="1400" dirty="0"/>
              <a:t>※</a:t>
            </a:r>
            <a:r>
              <a:rPr lang="ja-JP" altLang="en-US" sz="1400" dirty="0"/>
              <a:t>スクラッチ開発の実績に基づく推定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8138160" y="1188720"/>
            <a:ext cx="3749039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188720"/>
            <a:ext cx="73152" cy="2743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60" y="1280160"/>
            <a:ext cx="3383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ローコード / ノーコード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1645920"/>
            <a:ext cx="3383279" cy="2233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2000" b="1">
                <a:solidFill>
                  <a:srgbClr val="E86C00"/>
                </a:solidFill>
                <a:latin typeface="Yu Gothic"/>
              </a:defRPr>
            </a:pPr>
            <a:r>
              <a:rPr dirty="0" err="1"/>
              <a:t>効果</a:t>
            </a:r>
            <a:r>
              <a:rPr dirty="0"/>
              <a:t>: </a:t>
            </a:r>
            <a:r>
              <a:rPr dirty="0" err="1"/>
              <a:t>限定的</a:t>
            </a:r>
            <a:endParaRPr dirty="0"/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GUI操作中心のためAIがコードを</a:t>
            </a:r>
            <a:endParaRPr dirty="0"/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直接生成する余地が少ない</a:t>
            </a:r>
            <a:r>
              <a:rPr dirty="0"/>
              <a:t>。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rPr dirty="0" err="1"/>
              <a:t>ただし上流工程での活用は可能</a:t>
            </a:r>
            <a:r>
              <a:rPr dirty="0"/>
              <a:t>。</a:t>
            </a:r>
            <a:endParaRPr lang="en-US" dirty="0"/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br>
              <a:rPr lang="en-US" altLang="ja-JP" sz="1400" dirty="0"/>
            </a:br>
            <a:br>
              <a:rPr lang="en-US" altLang="ja-JP" sz="1400" dirty="0"/>
            </a:br>
            <a:r>
              <a:rPr lang="en-US" altLang="ja-JP" sz="1400" dirty="0"/>
              <a:t>※</a:t>
            </a:r>
            <a:r>
              <a:rPr lang="ja-JP" altLang="en-US" sz="1400" dirty="0"/>
              <a:t>スクラッチ開発の実績に基づく推定</a:t>
            </a:r>
            <a:endParaRPr lang="ja-JP" altLang="en-US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274320" y="4114800"/>
          <a:ext cx="11612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AI活用領域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スクラッチ開発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パッケージ開発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ローコード/ノーコード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コード生成・実装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最大効果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カスタマイズ部分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△ 数式・スクリプト程度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テスト自動生成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全テスト生成可能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カスタム部分のテスト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× 対象外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設計・アーキテクチャ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提案〜実装まで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拡張設計の支援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△ 設計レビューは可能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要件定義・仕様検討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壁打ち〜文書生成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ドキュメント作成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自動生成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自動生成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手順書・仕様書作成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CI/CD・品質基盤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構築〜運用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○ 部分的に構築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× 対象外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学習コスト削減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t>◎ 未経験技術でも即開発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○ </a:t>
                      </a:r>
                      <a:r>
                        <a:rPr dirty="0" err="1"/>
                        <a:t>パッケージ仕様の理解支援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333333"/>
                          </a:solidFill>
                          <a:latin typeface="Yu Gothic"/>
                        </a:defRPr>
                      </a:pPr>
                      <a:r>
                        <a:rPr dirty="0"/>
                        <a:t>△ </a:t>
                      </a:r>
                      <a:r>
                        <a:rPr dirty="0" err="1"/>
                        <a:t>効果小</a:t>
                      </a:r>
                      <a:endParaRPr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64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8. ローコード/ノーコード開発でもAIが活きる領域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コード生成以外にもAI駆動開発の恩恵は受けられる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5303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530352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AI活用が有効な領域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設計レビュー・壁打ち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画面設計・データモデルの妥当性チェック、要件の抜け漏れ検出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要件定義・仕様書の作成支援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業務フロー整理、非機能要件の網羅的な洗い出し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A35E"/>
                </a:solidFill>
                <a:latin typeface="Yu Gothic"/>
              </a:defRPr>
            </a:pPr>
            <a:r>
              <a:t>◎ ドキュメント作成・レビュー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運用手順書、テスト仕様書、操作マニュアルの生成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7ACC"/>
                </a:solidFill>
                <a:latin typeface="Yu Gothic"/>
              </a:defRPr>
            </a:pPr>
            <a:r>
              <a:t>○ 数式・関数・スクリプトの生成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Power Fxの数式作成、Power Automateのフロー設計支援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007ACC"/>
                </a:solidFill>
                <a:latin typeface="Yu Gothic"/>
              </a:defRPr>
            </a:pPr>
            <a:r>
              <a:t>○ トラブルシューティング支援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エラーメッセージの解析、設定ミスの特定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66928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73152" cy="3200400"/>
          </a:xfrm>
          <a:prstGeom prst="rect">
            <a:avLst/>
          </a:prstGeom>
          <a:solidFill>
            <a:srgbClr val="CC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2801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C3333"/>
                </a:solidFill>
                <a:latin typeface="Yu Gothic"/>
              </a:defRPr>
            </a:pPr>
            <a:r>
              <a:t>AI活用が難しい領域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645920"/>
            <a:ext cx="53035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GUI操作の自動化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ドラッグ&amp;ドロップ等のUI操作はAIの対象外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プラットフォーム固有の設定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接続設定、権限管理、環境構築はGUI操作が必要</a:t>
            </a:r>
          </a:p>
          <a:p>
            <a:pPr algn="l">
              <a:spcAft>
                <a:spcPts val="700"/>
              </a:spcAft>
              <a:defRPr sz="600" b="0">
                <a:solidFill>
                  <a:srgbClr val="333333"/>
                </a:solidFill>
                <a:latin typeface="Yu Gothic"/>
              </a:defRPr>
            </a:pPr>
            <a:endParaRPr/>
          </a:p>
          <a:p>
            <a:pPr algn="l">
              <a:spcAft>
                <a:spcPts val="700"/>
              </a:spcAft>
              <a:defRPr sz="1700" b="1">
                <a:solidFill>
                  <a:srgbClr val="CC3333"/>
                </a:solidFill>
                <a:latin typeface="Yu Gothic"/>
              </a:defRPr>
            </a:pPr>
            <a:r>
              <a:t>× テスト自動生成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  テストコードという概念がないため自動テスト生成は不可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4572000"/>
            <a:ext cx="56692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4572000"/>
            <a:ext cx="73152" cy="1920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4663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ポイント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ローコード/ノーコード開発でも、上流工程（企画・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要件定義・設計）やドキュメント作成ではAIの恩恵</a:t>
            </a:r>
          </a:p>
          <a:p>
            <a:pPr algn="l">
              <a:spcAft>
                <a:spcPts val="750"/>
              </a:spcAft>
              <a:defRPr sz="1500" b="0">
                <a:solidFill>
                  <a:srgbClr val="333333"/>
                </a:solidFill>
                <a:latin typeface="Yu Gothic"/>
              </a:defRPr>
            </a:pPr>
            <a:r>
              <a:t>を十分に受けられる。</a:t>
            </a:r>
          </a:p>
          <a:p>
            <a:pPr algn="l">
              <a:spcAft>
                <a:spcPts val="750"/>
              </a:spcAft>
              <a:defRPr sz="1500" b="1">
                <a:solidFill>
                  <a:srgbClr val="007ACC"/>
                </a:solidFill>
                <a:latin typeface="Yu Gothic"/>
              </a:defRPr>
            </a:pPr>
            <a:r>
              <a:t>「コードを書かない開発 = AI不要」ではない。</a:t>
            </a:r>
          </a:p>
        </p:txBody>
      </p:sp>
    </p:spTree>
    <p:extLst>
      <p:ext uri="{BB962C8B-B14F-4D97-AF65-F5344CB8AC3E}">
        <p14:creationId xmlns:p14="http://schemas.microsoft.com/office/powerpoint/2010/main" val="503290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Yu Gothic"/>
              </a:defRPr>
            </a:pPr>
            <a:r>
              <a:t>9. なぜスクラッチ開発でAI駆動開発の効果が最大化するか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CCDD"/>
                </a:solidFill>
                <a:latin typeface="Yu Gothic"/>
              </a:defRPr>
            </a:pPr>
            <a:r>
              <a:t>AIの強みとスクラッチ開発の特性が最も合致する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" cy="2286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ACC"/>
                </a:solidFill>
                <a:latin typeface="Yu Gothic"/>
              </a:defRPr>
            </a:pPr>
            <a:r>
              <a:t>コードの直接生成・修正が可能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スクラッチ開発はテキストベースのコードが成果物。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AIが直接コードを読み・書き・修正できるため、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生産速度23〜46倍という圧倒的効果が出る。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ローコードのGUI操作はAIの介入余地がない。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18872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126480" y="1188720"/>
            <a:ext cx="73152" cy="2286000"/>
          </a:xfrm>
          <a:prstGeom prst="rect">
            <a:avLst/>
          </a:prstGeom>
          <a:solidFill>
            <a:srgbClr val="00A3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2801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A35E"/>
                </a:solidFill>
                <a:latin typeface="Yu Gothic"/>
              </a:defRPr>
            </a:pPr>
            <a:r>
              <a:t>未経験技術の学習コストがゼロに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64592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従来: 新技術の習得に1〜2ヶ月が必要。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AI駆動: 設計と実装をAIが同時に実行。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Flutter未経験でも初日からプロダクションコード生成。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ローコードは学習コストが元々低く差が出にくい。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4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" y="3749040"/>
            <a:ext cx="73152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Yu Gothic"/>
              </a:defRPr>
            </a:pPr>
            <a:r>
              <a:t>テスト・品質基盤の自動構築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スクラッチ: 813テストケース・CI/CDを自動構築。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テスト作成の「心理的障壁」がゼロに。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ローコード: テストコードの概念がないため、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この領域ではAIの強みを活かせない。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4904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26480" y="3749040"/>
            <a:ext cx="73152" cy="228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38404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5C"/>
                </a:solidFill>
                <a:latin typeface="Yu Gothic"/>
              </a:defRPr>
            </a:pPr>
            <a:r>
              <a:t>全工程を一気通貫で自動化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206240"/>
            <a:ext cx="5212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スクラッチ: 設計→コード→テスト→CI/CDを一貫実行。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工程間の受け渡しロスがなく、90%の期間短縮。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ローコード: 実装はGUI、テストは手動と</a:t>
            </a:r>
          </a:p>
          <a:p>
            <a:pPr>
              <a:spcAft>
                <a:spcPts val="700"/>
              </a:spcAft>
              <a:defRPr sz="1400" b="0">
                <a:solidFill>
                  <a:srgbClr val="333333"/>
                </a:solidFill>
                <a:latin typeface="Yu Gothic"/>
              </a:defRPr>
            </a:pPr>
            <a:r>
              <a:t>工程が分断されAIによる一貫自動化が困難。</a:t>
            </a:r>
          </a:p>
        </p:txBody>
      </p:sp>
    </p:spTree>
    <p:extLst>
      <p:ext uri="{BB962C8B-B14F-4D97-AF65-F5344CB8AC3E}">
        <p14:creationId xmlns:p14="http://schemas.microsoft.com/office/powerpoint/2010/main" val="3105515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BE37C18-621D-4A97-9262-08D7E04EA39D}"/>
              </a:ext>
            </a:extLst>
          </p:cNvPr>
          <p:cNvSpPr/>
          <p:nvPr/>
        </p:nvSpPr>
        <p:spPr>
          <a:xfrm>
            <a:off x="3657600" y="3683000"/>
            <a:ext cx="4876800" cy="25400"/>
          </a:xfrm>
          <a:prstGeom prst="rect">
            <a:avLst/>
          </a:prstGeom>
          <a:solidFill>
            <a:srgbClr val="99AABB"/>
          </a:solidFill>
          <a:ln w="9525" cap="flat" cmpd="sng" algn="ctr">
            <a:noFill/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FB776A-ADC8-4FF4-8369-A60E710CFCA2}"/>
              </a:ext>
            </a:extLst>
          </p:cNvPr>
          <p:cNvSpPr txBox="1"/>
          <p:nvPr/>
        </p:nvSpPr>
        <p:spPr>
          <a:xfrm>
            <a:off x="914400" y="2667000"/>
            <a:ext cx="10363200" cy="109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Yu Gothic"/>
              </a:defRPr>
            </a:pPr>
            <a:r>
              <a:rPr lang="ja-JP" altLang="en-US" sz="3600" b="1" dirty="0">
                <a:solidFill>
                  <a:srgbClr val="FFFFFF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16D2FB2-ED5D-4310-9938-27478688EAED}"/>
              </a:ext>
            </a:extLst>
          </p:cNvPr>
          <p:cNvSpPr txBox="1"/>
          <p:nvPr/>
        </p:nvSpPr>
        <p:spPr>
          <a:xfrm>
            <a:off x="914400" y="39370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defRPr sz="2000" b="0">
                <a:solidFill>
                  <a:srgbClr val="99AABB"/>
                </a:solidFill>
                <a:latin typeface="Yu Gothic"/>
              </a:defRPr>
            </a:pPr>
            <a:r>
              <a:rPr lang="ja-JP" altLang="en-US" sz="2000" dirty="0">
                <a:solidFill>
                  <a:srgbClr val="99AABB"/>
                </a:solidFill>
                <a:latin typeface="Yu Gothic"/>
                <a:ea typeface="Yu Gothic"/>
              </a:rPr>
              <a:t>AIタスクフォース 成果報告</a:t>
            </a:r>
          </a:p>
        </p:txBody>
      </p:sp>
    </p:spTree>
    <p:extLst>
      <p:ext uri="{BB962C8B-B14F-4D97-AF65-F5344CB8AC3E}">
        <p14:creationId xmlns:p14="http://schemas.microsoft.com/office/powerpoint/2010/main" val="2348728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3BD09C7-7661-4121-9A32-8EB4D23F4AD0}">
  <we:reference id="f5f369e5-aa35-49d7-ad7b-638152ddb008" version="1.0.0.1" store="EXCatalog" storeType="EXCatalog"/>
  <we:alternateReferences>
    <we:reference id="WA200010001" version="1.0.0.1" store="ja-JP" storeType="OMEX"/>
  </we:alternateReferences>
  <we:properties>
    <we:property name="claude.fileId" value="&quot;307c042f-9256-4e06-a3ff-cd71feba079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1138</Words>
  <Application>Microsoft Office PowerPoint</Application>
  <PresentationFormat>ワイド画面</PresentationFormat>
  <Paragraphs>272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Yu Gothic</vt:lpstr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Suyama Teppei</cp:lastModifiedBy>
  <cp:revision>9</cp:revision>
  <dcterms:created xsi:type="dcterms:W3CDTF">2013-01-27T09:14:16Z</dcterms:created>
  <dcterms:modified xsi:type="dcterms:W3CDTF">2026-04-08T02:09:50Z</dcterms:modified>
  <cp:category/>
</cp:coreProperties>
</file>