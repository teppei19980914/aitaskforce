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2"/>
    <p:sldId id="296" r:id="rId3"/>
    <p:sldId id="290" r:id="rId4"/>
    <p:sldId id="291" r:id="rId5"/>
    <p:sldId id="267" r:id="rId6"/>
    <p:sldId id="292" r:id="rId7"/>
    <p:sldId id="269" r:id="rId8"/>
    <p:sldId id="293" r:id="rId9"/>
    <p:sldId id="271" r:id="rId10"/>
    <p:sldId id="295" r:id="rId11"/>
    <p:sldId id="297" r:id="rId12"/>
    <p:sldId id="298" r:id="rId13"/>
    <p:sldId id="299" r:id="rId14"/>
    <p:sldId id="300" r:id="rId15"/>
    <p:sldId id="301" r:id="rId16"/>
    <p:sldId id="302" r:id="rId17"/>
    <p:sldId id="28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63" d="100"/>
          <a:sy n="163" d="100"/>
        </p:scale>
        <p:origin x="17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Yu Gothic"/>
              </a:defRPr>
            </a:pPr>
            <a:r>
              <a:t>AIタスクフォース 成果報告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CCDD"/>
                </a:solidFill>
                <a:latin typeface="Yu Gothic"/>
              </a:defRPr>
            </a:pPr>
            <a:r>
              <a:t>Claude Code の成熟度レベル比較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474720"/>
            <a:ext cx="4876495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AABB"/>
                </a:solidFill>
                <a:latin typeface="Yu Gothic"/>
              </a:defRPr>
            </a:pPr>
            <a:r>
              <a:rPr dirty="0"/>
              <a:t>2026年4月</a:t>
            </a:r>
            <a:r>
              <a:rPr lang="en-US" dirty="0"/>
              <a:t>15</a:t>
            </a:r>
            <a:r>
              <a:rPr dirty="0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3953867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t>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333333"/>
                </a:solidFill>
                <a:latin typeface="Yu Gothic"/>
              </a:defRPr>
            </a:pPr>
            <a:r>
              <a:rPr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1.   </a:t>
            </a:r>
            <a:r>
              <a:rPr dirty="0" err="1">
                <a:latin typeface="游ゴシック" panose="020B0400000000000000" pitchFamily="50" charset="-128"/>
                <a:ea typeface="游ゴシック" panose="020B0400000000000000" pitchFamily="50" charset="-128"/>
              </a:rPr>
              <a:t>結論</a:t>
            </a:r>
            <a:endParaRPr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  <a:p>
            <a:pPr>
              <a:spcAft>
                <a:spcPts val="1200"/>
              </a:spcAft>
              <a:defRPr sz="2200" b="0">
                <a:solidFill>
                  <a:srgbClr val="333333"/>
                </a:solidFill>
                <a:latin typeface="Yu Gothic"/>
              </a:defRPr>
            </a:pPr>
            <a:r>
              <a:rPr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2.   Claude Code 習熟度レベル（5段階最適化）</a:t>
            </a:r>
          </a:p>
          <a:p>
            <a:pPr>
              <a:spcAft>
                <a:spcPts val="1200"/>
              </a:spcAft>
              <a:defRPr sz="2200" b="0">
                <a:solidFill>
                  <a:srgbClr val="333333"/>
                </a:solidFill>
                <a:latin typeface="Yu Gothic"/>
              </a:defRPr>
            </a:pPr>
            <a:r>
              <a:rPr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3.</a:t>
            </a:r>
            <a:r>
              <a:rPr lang="en-US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   </a:t>
            </a:r>
            <a:r>
              <a:rPr lang="ja-JP" altLang="en-US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トークンコスト最適化の実測値</a:t>
            </a:r>
          </a:p>
          <a:p>
            <a:pPr>
              <a:spcAft>
                <a:spcPts val="1200"/>
              </a:spcAft>
              <a:defRPr sz="2200" b="0">
                <a:solidFill>
                  <a:srgbClr val="333333"/>
                </a:solidFill>
                <a:latin typeface="Yu Gothic"/>
              </a:defRPr>
            </a:pPr>
            <a:r>
              <a:rPr lang="en-US" altLang="ja-JP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4.   AI</a:t>
            </a:r>
            <a:r>
              <a:rPr lang="ja-JP" altLang="en-US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駆動開発の設計原則とベストプラクティス</a:t>
            </a:r>
          </a:p>
          <a:p>
            <a:pPr>
              <a:spcAft>
                <a:spcPts val="1200"/>
              </a:spcAft>
              <a:defRPr sz="2200" b="0">
                <a:solidFill>
                  <a:srgbClr val="333333"/>
                </a:solidFill>
                <a:latin typeface="Yu Gothic"/>
              </a:defRPr>
            </a:pPr>
            <a:r>
              <a:rPr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5.   </a:t>
            </a:r>
            <a:r>
              <a:rPr lang="ja-JP" altLang="en-US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他プロジェクトへの展開方法</a:t>
            </a:r>
            <a:endParaRPr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  <a:p>
            <a:pPr>
              <a:spcAft>
                <a:spcPts val="1200"/>
              </a:spcAft>
              <a:defRPr sz="2200" b="0">
                <a:solidFill>
                  <a:srgbClr val="333333"/>
                </a:solidFill>
                <a:latin typeface="Yu Gothic"/>
              </a:defRPr>
            </a:pPr>
            <a:r>
              <a:rPr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6.   </a:t>
            </a:r>
            <a:r>
              <a:rPr lang="ja-JP" altLang="en-US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まとめ</a:t>
            </a:r>
            <a:endParaRPr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8548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83DAB59-D4A0-4AFC-87EA-3D893EA2635B}"/>
              </a:ext>
            </a:extLst>
          </p:cNvPr>
          <p:cNvSpPr/>
          <p:nvPr/>
        </p:nvSpPr>
        <p:spPr>
          <a:xfrm>
            <a:off x="0" y="0"/>
            <a:ext cx="12192000" cy="1003300"/>
          </a:xfrm>
          <a:prstGeom prst="rect">
            <a:avLst/>
          </a:prstGeom>
          <a:solidFill>
            <a:srgbClr val="1B3A5C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658FCCF-A58C-4455-A93E-0A8BB9563CF3}"/>
              </a:ext>
            </a:extLst>
          </p:cNvPr>
          <p:cNvSpPr txBox="1"/>
          <p:nvPr/>
        </p:nvSpPr>
        <p:spPr>
          <a:xfrm>
            <a:off x="736600" y="139700"/>
            <a:ext cx="10058400" cy="546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2400" b="1" dirty="0">
                <a:solidFill>
                  <a:srgbClr val="FFFFFF"/>
                </a:solidFill>
                <a:latin typeface="Yu Gothic"/>
                <a:ea typeface="Yu Gothic"/>
              </a:rPr>
              <a:t>1. </a:t>
            </a:r>
            <a:r>
              <a:rPr lang="ja-JP" altLang="en-US" sz="2400" b="1" dirty="0">
                <a:solidFill>
                  <a:srgbClr val="FFFFFF"/>
                </a:solidFill>
                <a:latin typeface="Yu Gothic"/>
                <a:ea typeface="Yu Gothic"/>
              </a:rPr>
              <a:t>結論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911F32-CAFE-4B83-921B-721D9C4645F0}"/>
              </a:ext>
            </a:extLst>
          </p:cNvPr>
          <p:cNvSpPr txBox="1"/>
          <p:nvPr/>
        </p:nvSpPr>
        <p:spPr>
          <a:xfrm>
            <a:off x="736600" y="596900"/>
            <a:ext cx="100584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1400">
                <a:solidFill>
                  <a:srgbClr val="BBCCDD"/>
                </a:solidFill>
                <a:latin typeface="Yu Gothic"/>
                <a:ea typeface="Yu Gothic"/>
              </a:rPr>
              <a:t>Claude Code </a:t>
            </a:r>
            <a:r>
              <a:rPr lang="ja-JP" altLang="en-US" sz="1400">
                <a:solidFill>
                  <a:srgbClr val="BBCCDD"/>
                </a:solidFill>
                <a:latin typeface="Yu Gothic"/>
                <a:ea typeface="Yu Gothic"/>
              </a:rPr>
              <a:t>の成熟度レベルを上げることで、品質・コスト・速度すべてが向上する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DD78C96-3C79-4B16-9403-91C15CF6D3ED}"/>
              </a:ext>
            </a:extLst>
          </p:cNvPr>
          <p:cNvSpPr/>
          <p:nvPr/>
        </p:nvSpPr>
        <p:spPr>
          <a:xfrm>
            <a:off x="457200" y="1282700"/>
            <a:ext cx="3479800" cy="2286000"/>
          </a:xfrm>
          <a:prstGeom prst="rect">
            <a:avLst/>
          </a:prstGeom>
          <a:solidFill>
            <a:srgbClr val="FFF5EB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FFF6C94-2AB7-4CA6-9074-F307EE0691CB}"/>
              </a:ext>
            </a:extLst>
          </p:cNvPr>
          <p:cNvSpPr/>
          <p:nvPr/>
        </p:nvSpPr>
        <p:spPr>
          <a:xfrm>
            <a:off x="457200" y="1282700"/>
            <a:ext cx="76200" cy="2286000"/>
          </a:xfrm>
          <a:prstGeom prst="rect">
            <a:avLst/>
          </a:prstGeom>
          <a:solidFill>
            <a:srgbClr val="E86C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35ABB0C-98AF-415E-AE70-8A63C4986D6A}"/>
              </a:ext>
            </a:extLst>
          </p:cNvPr>
          <p:cNvSpPr txBox="1"/>
          <p:nvPr/>
        </p:nvSpPr>
        <p:spPr>
          <a:xfrm>
            <a:off x="685800" y="1371600"/>
            <a:ext cx="31115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1600" b="1">
                <a:solidFill>
                  <a:srgbClr val="E86C00"/>
                </a:solidFill>
                <a:latin typeface="Yu Gothic"/>
                <a:ea typeface="Yu Gothic"/>
              </a:rPr>
              <a:t>トークンコスト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6BF4666-7B10-4B9C-AF5E-C81C86B3C61E}"/>
              </a:ext>
            </a:extLst>
          </p:cNvPr>
          <p:cNvSpPr/>
          <p:nvPr/>
        </p:nvSpPr>
        <p:spPr>
          <a:xfrm>
            <a:off x="4292600" y="1282700"/>
            <a:ext cx="3479800" cy="2286000"/>
          </a:xfrm>
          <a:prstGeom prst="rect">
            <a:avLst/>
          </a:prstGeom>
          <a:solidFill>
            <a:srgbClr val="EBF7F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72F51C4-F63F-4E3D-97B8-87C4353690A1}"/>
              </a:ext>
            </a:extLst>
          </p:cNvPr>
          <p:cNvSpPr/>
          <p:nvPr/>
        </p:nvSpPr>
        <p:spPr>
          <a:xfrm>
            <a:off x="4292600" y="1282700"/>
            <a:ext cx="76200" cy="2286000"/>
          </a:xfrm>
          <a:prstGeom prst="rect">
            <a:avLst/>
          </a:prstGeom>
          <a:solidFill>
            <a:srgbClr val="00A35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8358454-6628-4BB1-93F8-EAAADB99CB78}"/>
              </a:ext>
            </a:extLst>
          </p:cNvPr>
          <p:cNvSpPr txBox="1"/>
          <p:nvPr/>
        </p:nvSpPr>
        <p:spPr>
          <a:xfrm>
            <a:off x="4521200" y="1371600"/>
            <a:ext cx="31115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1600" b="1">
                <a:solidFill>
                  <a:srgbClr val="00A35E"/>
                </a:solidFill>
                <a:latin typeface="Yu Gothic"/>
                <a:ea typeface="Yu Gothic"/>
              </a:rPr>
              <a:t>品質チェック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4F2E8A4-597F-42DC-A9FF-79D31DDB7333}"/>
              </a:ext>
            </a:extLst>
          </p:cNvPr>
          <p:cNvSpPr/>
          <p:nvPr/>
        </p:nvSpPr>
        <p:spPr>
          <a:xfrm>
            <a:off x="8140700" y="1282700"/>
            <a:ext cx="3568700" cy="2286000"/>
          </a:xfrm>
          <a:prstGeom prst="rect">
            <a:avLst/>
          </a:prstGeom>
          <a:solidFill>
            <a:srgbClr val="EBF2F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510BD57-5D74-4064-B1A4-12FC4DAB8D55}"/>
              </a:ext>
            </a:extLst>
          </p:cNvPr>
          <p:cNvSpPr/>
          <p:nvPr/>
        </p:nvSpPr>
        <p:spPr>
          <a:xfrm>
            <a:off x="8140700" y="1282700"/>
            <a:ext cx="76200" cy="2286000"/>
          </a:xfrm>
          <a:prstGeom prst="rect">
            <a:avLst/>
          </a:prstGeom>
          <a:solidFill>
            <a:srgbClr val="007ACC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0B09ADE-B790-488D-BB26-C2B6855819A6}"/>
              </a:ext>
            </a:extLst>
          </p:cNvPr>
          <p:cNvSpPr txBox="1"/>
          <p:nvPr/>
        </p:nvSpPr>
        <p:spPr>
          <a:xfrm>
            <a:off x="8369300" y="1371600"/>
            <a:ext cx="32004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1600" b="1">
                <a:solidFill>
                  <a:srgbClr val="007ACC"/>
                </a:solidFill>
                <a:latin typeface="Yu Gothic"/>
                <a:ea typeface="Yu Gothic"/>
              </a:rPr>
              <a:t>展開性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9191DE0-278A-410A-B00D-F15F497FAB80}"/>
              </a:ext>
            </a:extLst>
          </p:cNvPr>
          <p:cNvSpPr/>
          <p:nvPr/>
        </p:nvSpPr>
        <p:spPr>
          <a:xfrm>
            <a:off x="457200" y="3835400"/>
            <a:ext cx="11252200" cy="2565400"/>
          </a:xfrm>
          <a:prstGeom prst="rect">
            <a:avLst/>
          </a:prstGeom>
          <a:solidFill>
            <a:srgbClr val="F0F4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4666932-E4FE-4FB6-96D7-3EA1EB79705D}"/>
              </a:ext>
            </a:extLst>
          </p:cNvPr>
          <p:cNvSpPr/>
          <p:nvPr/>
        </p:nvSpPr>
        <p:spPr>
          <a:xfrm>
            <a:off x="457200" y="3835400"/>
            <a:ext cx="76200" cy="2565400"/>
          </a:xfrm>
          <a:prstGeom prst="rect">
            <a:avLst/>
          </a:prstGeom>
          <a:solidFill>
            <a:srgbClr val="1B3A5C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0A39B93-CEAE-409D-94CD-8E37B9144B35}"/>
              </a:ext>
            </a:extLst>
          </p:cNvPr>
          <p:cNvSpPr txBox="1"/>
          <p:nvPr/>
        </p:nvSpPr>
        <p:spPr>
          <a:xfrm>
            <a:off x="685800" y="3937000"/>
            <a:ext cx="108839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1600" b="1">
                <a:solidFill>
                  <a:srgbClr val="1B3A5C"/>
                </a:solidFill>
                <a:latin typeface="Yu Gothic"/>
                <a:ea typeface="Yu Gothic"/>
              </a:rPr>
              <a:t>本資料のメッセージ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1C4A10A-9A57-40BC-A87D-213706D4E759}"/>
              </a:ext>
            </a:extLst>
          </p:cNvPr>
          <p:cNvSpPr txBox="1"/>
          <p:nvPr/>
        </p:nvSpPr>
        <p:spPr>
          <a:xfrm>
            <a:off x="685800" y="1739900"/>
            <a:ext cx="3111500" cy="1739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lang="ja-JP" sz="3200" b="1" dirty="0">
                <a:solidFill>
                  <a:srgbClr val="E86C00"/>
                </a:solidFill>
                <a:latin typeface="Yu Gothic"/>
              </a:rPr>
              <a:t>-73%</a:t>
            </a:r>
          </a:p>
          <a:p>
            <a:pPr algn="l">
              <a:spcAft>
                <a:spcPts val="400"/>
              </a:spcAft>
            </a:pPr>
            <a:r>
              <a:rPr lang="ja-JP" sz="1500" b="0" dirty="0">
                <a:solidFill>
                  <a:srgbClr val="333333"/>
                </a:solidFill>
                <a:latin typeface="Yu Gothic"/>
              </a:rPr>
              <a:t>Level 5 最適化により</a:t>
            </a:r>
          </a:p>
          <a:p>
            <a:pPr algn="l">
              <a:spcAft>
                <a:spcPts val="400"/>
              </a:spcAft>
            </a:pPr>
            <a:r>
              <a:rPr lang="ja-JP" sz="1500" b="0" dirty="0">
                <a:solidFill>
                  <a:srgbClr val="333333"/>
                </a:solidFill>
                <a:latin typeface="Yu Gothic"/>
              </a:rPr>
              <a:t>Level 1 比で大幅削減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87F4D78-26B6-455E-9EA6-952F6ADEDFA5}"/>
              </a:ext>
            </a:extLst>
          </p:cNvPr>
          <p:cNvSpPr txBox="1"/>
          <p:nvPr/>
        </p:nvSpPr>
        <p:spPr>
          <a:xfrm>
            <a:off x="4521200" y="1739900"/>
            <a:ext cx="3111500" cy="1739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lang="ja-JP" sz="3200" b="1" dirty="0">
                <a:solidFill>
                  <a:srgbClr val="00A35E"/>
                </a:solidFill>
                <a:latin typeface="Yu Gothic"/>
              </a:rPr>
              <a:t>100%</a:t>
            </a:r>
          </a:p>
          <a:p>
            <a:pPr algn="l">
              <a:spcAft>
                <a:spcPts val="400"/>
              </a:spcAft>
            </a:pPr>
            <a:r>
              <a:rPr lang="ja-JP" sz="1500" b="0" dirty="0">
                <a:solidFill>
                  <a:srgbClr val="333333"/>
                </a:solidFill>
                <a:latin typeface="Yu Gothic"/>
              </a:rPr>
              <a:t>Level 4-5 で全品質</a:t>
            </a:r>
          </a:p>
          <a:p>
            <a:pPr algn="l">
              <a:spcAft>
                <a:spcPts val="400"/>
              </a:spcAft>
            </a:pPr>
            <a:r>
              <a:rPr lang="ja-JP" sz="1500" b="0" dirty="0">
                <a:solidFill>
                  <a:srgbClr val="333333"/>
                </a:solidFill>
                <a:latin typeface="Yu Gothic"/>
              </a:rPr>
              <a:t>チェックが自動化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68D372B-2C39-46B9-A585-05B07BC35C99}"/>
              </a:ext>
            </a:extLst>
          </p:cNvPr>
          <p:cNvSpPr txBox="1"/>
          <p:nvPr/>
        </p:nvSpPr>
        <p:spPr>
          <a:xfrm>
            <a:off x="8369300" y="1739900"/>
            <a:ext cx="3200400" cy="1739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lang="ja-JP" sz="3200" b="1" dirty="0">
                <a:solidFill>
                  <a:srgbClr val="007ACC"/>
                </a:solidFill>
                <a:latin typeface="Yu Gothic"/>
              </a:rPr>
              <a:t>4週間</a:t>
            </a:r>
          </a:p>
          <a:p>
            <a:pPr algn="l">
              <a:spcAft>
                <a:spcPts val="400"/>
              </a:spcAft>
            </a:pPr>
            <a:r>
              <a:rPr lang="ja-JP" sz="1500" b="0" dirty="0">
                <a:solidFill>
                  <a:srgbClr val="333333"/>
                </a:solidFill>
                <a:latin typeface="Yu Gothic"/>
              </a:rPr>
              <a:t>テンプレート活用で</a:t>
            </a:r>
          </a:p>
          <a:p>
            <a:pPr algn="l">
              <a:spcAft>
                <a:spcPts val="400"/>
              </a:spcAft>
            </a:pPr>
            <a:r>
              <a:rPr lang="ja-JP" sz="1500" b="0" dirty="0">
                <a:solidFill>
                  <a:srgbClr val="333333"/>
                </a:solidFill>
                <a:latin typeface="Yu Gothic"/>
              </a:rPr>
              <a:t>段階的に他PJへ展開可能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98322E4-DD99-4CAB-9BFE-38AA25A22337}"/>
              </a:ext>
            </a:extLst>
          </p:cNvPr>
          <p:cNvSpPr txBox="1"/>
          <p:nvPr/>
        </p:nvSpPr>
        <p:spPr>
          <a:xfrm>
            <a:off x="685800" y="4292600"/>
            <a:ext cx="10883900" cy="2006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lang="ja-JP" sz="1600" b="1" dirty="0">
                <a:solidFill>
                  <a:srgbClr val="1B3A5C"/>
                </a:solidFill>
                <a:latin typeface="Yu Gothic"/>
              </a:rPr>
              <a:t>Claude Code は5段階の成熟度レベルで最適化でき、レベルが上がるほど効果が増大する</a:t>
            </a:r>
          </a:p>
          <a:p>
            <a:pPr algn="l">
              <a:spcAft>
                <a:spcPts val="400"/>
              </a:spcAft>
            </a:pPr>
            <a:r>
              <a:rPr lang="ja-JP" sz="1400" b="0" dirty="0">
                <a:solidFill>
                  <a:srgbClr val="333333"/>
                </a:solidFill>
                <a:latin typeface="Yu Gothic"/>
              </a:rPr>
              <a:t>Level 1（素のClaude Code）から Level 5（完全自動化）まで、CLAUDE.md・カスタムコマンド・</a:t>
            </a:r>
          </a:p>
          <a:p>
            <a:pPr algn="l">
              <a:spcAft>
                <a:spcPts val="400"/>
              </a:spcAft>
            </a:pPr>
            <a:r>
              <a:rPr lang="ja-JP" sz="1400" b="0" dirty="0">
                <a:solidFill>
                  <a:srgbClr val="333333"/>
                </a:solidFill>
                <a:latin typeface="Yu Gothic"/>
              </a:rPr>
              <a:t>Skills・Hooks を段階的に導入することで、トークンコスト73%削減と品質チェック100%自動化を実現。</a:t>
            </a:r>
          </a:p>
          <a:p>
            <a:pPr algn="l">
              <a:spcAft>
                <a:spcPts val="400"/>
              </a:spcAft>
            </a:pPr>
            <a:r>
              <a:rPr lang="ja-JP" sz="1400" b="0" dirty="0">
                <a:solidFill>
                  <a:srgbClr val="333333"/>
                </a:solidFill>
                <a:latin typeface="Yu Gothic"/>
              </a:rPr>
              <a:t>テンプレートリポジトリにより、他プロジェクトへの段階的な展開も可能。</a:t>
            </a:r>
          </a:p>
          <a:p>
            <a:pPr algn="l">
              <a:spcAft>
                <a:spcPts val="400"/>
              </a:spcAft>
            </a:pPr>
            <a:r>
              <a:rPr lang="ja-JP" sz="1400" b="1" dirty="0">
                <a:solidFill>
                  <a:srgbClr val="007ACC"/>
                </a:solidFill>
                <a:latin typeface="Yu Gothic"/>
              </a:rPr>
              <a:t>本資料では、各レベルの詳細・コスト実測値・設計原則・アンチパターン・展開方法を解説する。</a:t>
            </a:r>
          </a:p>
        </p:txBody>
      </p:sp>
    </p:spTree>
    <p:extLst>
      <p:ext uri="{BB962C8B-B14F-4D97-AF65-F5344CB8AC3E}">
        <p14:creationId xmlns:p14="http://schemas.microsoft.com/office/powerpoint/2010/main" val="2927338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t>2. Claude Code 習熟度レベル（5段階）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CCDD"/>
                </a:solidFill>
                <a:latin typeface="Yu Gothic"/>
              </a:defRPr>
            </a:pPr>
            <a:r>
              <a:t>レベルが上がるほど「人間の繰り返し指示」がシステムに吸収される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1371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Level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Yu Gothic"/>
              </a:defRPr>
            </a:pPr>
            <a:r>
              <a:t>素のプロンプト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Yu Gothic"/>
              </a:defRPr>
            </a:pPr>
            <a:r>
              <a:t>毎回ルールを手動入力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371600"/>
            <a:ext cx="2011680" cy="1371600"/>
          </a:xfrm>
          <a:prstGeom prst="rect">
            <a:avLst/>
          </a:prstGeom>
          <a:solidFill>
            <a:srgbClr val="99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Level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Yu Gothic"/>
              </a:defRPr>
            </a:pPr>
            <a:r>
              <a:t>+ CLAUDE.md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240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Yu Gothic"/>
              </a:defRPr>
            </a:pPr>
            <a:r>
              <a:t>ルール自動読み込み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371600"/>
            <a:ext cx="2011680" cy="1371600"/>
          </a:xfrm>
          <a:prstGeom prst="rect">
            <a:avLst/>
          </a:prstGeom>
          <a:solidFill>
            <a:srgbClr val="66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Level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Yu Gothic"/>
              </a:defRPr>
            </a:pPr>
            <a:r>
              <a:t>+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40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Yu Gothic"/>
              </a:defRPr>
            </a:pPr>
            <a:r>
              <a:t>手順のオンデマンド注入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371600"/>
            <a:ext cx="2011680" cy="1371600"/>
          </a:xfrm>
          <a:prstGeom prst="rect">
            <a:avLst/>
          </a:prstGeom>
          <a:solidFill>
            <a:srgbClr val="337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Level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Yu Gothic"/>
              </a:defRPr>
            </a:pPr>
            <a:r>
              <a:t>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240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Yu Gothic"/>
              </a:defRPr>
            </a:pPr>
            <a:r>
              <a:t>品質チェック自動実行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371600"/>
            <a:ext cx="2011680" cy="13716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Yu Gothic"/>
              </a:defRPr>
            </a:pPr>
            <a:r>
              <a:t>+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240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Yu Gothic"/>
              </a:defRPr>
            </a:pPr>
            <a:r>
              <a:t>並行レビュー自動実行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Yu Gothic"/>
              </a:defRPr>
            </a:pPr>
            <a:r>
              <a:t>→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57200" y="32004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状況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推奨レベル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Claude Code を試しに使ってみる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プロジェクトのルールを毎回伝えるのが面倒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同じ作業手順を何度も説明している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静的解析・テストを毎回手動で頼んでいる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セキュリティ・パフォーマンスレビューを毎回依頼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481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t>Claude Code レベル別構成要素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CCDD"/>
                </a:solidFill>
                <a:latin typeface="Yu Gothic"/>
              </a:defRPr>
            </a:pPr>
            <a:r>
              <a:t>各レベルで追加される仕組みの詳細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7607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2468880"/>
          </a:xfrm>
          <a:prstGeom prst="rect">
            <a:avLst/>
          </a:prstGeom>
          <a:solidFill>
            <a:srgbClr val="99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9BBDD"/>
                </a:solidFill>
                <a:latin typeface="Yu Gothic"/>
              </a:defRPr>
            </a:pPr>
            <a:r>
              <a:t>Level 2: 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プロジェクトルートに配置するルールファイル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セッション開始時に自動読み込み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設計原則: 150行以内（要約のみ）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詳細手順はSkillsに移行しコスト最適化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6692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73152" cy="2468880"/>
          </a:xfrm>
          <a:prstGeom prst="rect">
            <a:avLst/>
          </a:prstGeom>
          <a:solidFill>
            <a:srgbClr val="66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699CC"/>
                </a:solidFill>
                <a:latin typeface="Yu Gothic"/>
              </a:defRPr>
            </a:pPr>
            <a:r>
              <a:t>Level 3: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.claude/skills/ に手順書を配置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/fix-issue, /release 等コマンドで呼び出し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使用時のみトークン消費（未使用時コスト0）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「2回言ったら自動化する」原則で作成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840480"/>
            <a:ext cx="57607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3840480"/>
            <a:ext cx="73152" cy="2468880"/>
          </a:xfrm>
          <a:prstGeom prst="rect">
            <a:avLst/>
          </a:prstGeom>
          <a:solidFill>
            <a:srgbClr val="337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77BB"/>
                </a:solidFill>
                <a:latin typeface="Yu Gothic"/>
              </a:defRPr>
            </a:pPr>
            <a:r>
              <a:t>Level 4: 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settings.json で自動実行ルールを定義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PostToolUse: ファイル編集後に自動フォーマット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Stop: セッション終了時に品質ゲート実行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command型（確実実行）+ prompt型（AI判断）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6692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73152" cy="2468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Yu Gothic"/>
              </a:defRPr>
            </a:pPr>
            <a:r>
              <a:t>Level 5: 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9768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.claude/agents/ にレビュー定義を配置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独立サブプロセスとして並行実行可能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security-reviewer / performance-reviewer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label-checker（ハードコード文字列検出）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rPr lang="en-US" dirty="0"/>
              <a:t>3</a:t>
            </a:r>
            <a:r>
              <a:rPr dirty="0"/>
              <a:t>. </a:t>
            </a:r>
            <a:r>
              <a:rPr dirty="0" err="1"/>
              <a:t>トークンコスト最適化の実測値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CCDD"/>
                </a:solidFill>
                <a:latin typeface="Yu Gothic"/>
              </a:defRPr>
            </a:pPr>
            <a:r>
              <a:t>Level 5 で Level 1 比 73%のコスト削減を達成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レベル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毎セッション固定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作業指示コスト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合計（相対値）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Level 1比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1 (Raw)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0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約5,000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基準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2 (CLAUDE.md)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約3,500 tokens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約1,300 tokens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0.96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-4%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3 (+ Skills)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約1,300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約500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0.36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-64%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4 (+ Hooks)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約1,300 tokens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約350 tokens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0.33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-67%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Level 5 (+ Agents)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約1,300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約50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0.27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-73%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846320"/>
            <a:ext cx="5303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4846320"/>
            <a:ext cx="73152" cy="164592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Before (Level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035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毎セッション読み込み: 16,574 bytes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CLAUDE.md に全手順を詰め込み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846320"/>
            <a:ext cx="5303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4846320"/>
            <a:ext cx="73152" cy="1645920"/>
          </a:xfrm>
          <a:prstGeom prst="rect">
            <a:avLst/>
          </a:prstGeom>
          <a:solidFill>
            <a:srgbClr val="00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4937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35E"/>
                </a:solidFill>
                <a:latin typeface="Yu Gothic"/>
              </a:defRPr>
            </a:pPr>
            <a:r>
              <a:t>After (Level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53035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毎セッション固定: 3,454 bytes (-79%)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オンデマンド: 7,195 bytes (未使用時コスト0)</a:t>
            </a:r>
          </a:p>
        </p:txBody>
      </p:sp>
    </p:spTree>
    <p:extLst>
      <p:ext uri="{BB962C8B-B14F-4D97-AF65-F5344CB8AC3E}">
        <p14:creationId xmlns:p14="http://schemas.microsoft.com/office/powerpoint/2010/main" val="268812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t>品質チェックの自動化マトリクス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CCDD"/>
                </a:solidFill>
                <a:latin typeface="Yu Gothic"/>
              </a:defRPr>
            </a:pPr>
            <a:r>
              <a:t>Level 4-5 で全品質チェックが自動化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品質チェック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Level 1-2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Level 4-5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コードフォーマット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手動依頼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手動依頼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自動（Hook）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静的解析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手動依頼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Skill内に手順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自動（Hook）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テスト実行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手動依頼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Skill内に手順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自動（Hook）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禁止語検出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気づいた時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Skill内に手順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自動（Hook）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横展開チェック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気づいた時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Skill内に手順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自動（Hook prompt）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セキュリティチェック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気づいた時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手動依頼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自動（Agent）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パフォーマンスチェック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気づいた時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手動依頼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Yu Gothic"/>
                        </a:defRPr>
                      </a:pPr>
                      <a:r>
                        <a:t>自動（Agent）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Yu Gothic"/>
              </a:defRPr>
            </a:pPr>
            <a:r>
              <a:t>品質ゲート: ファイル編集 → 自動フォーマット → 開発継続 → セッション終了時に全チェック自動実行 → 問題があれば自動修正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rPr lang="en-US" dirty="0"/>
              <a:t>4</a:t>
            </a:r>
            <a:r>
              <a:rPr dirty="0"/>
              <a:t>. </a:t>
            </a:r>
            <a:r>
              <a:rPr dirty="0" err="1"/>
              <a:t>AI駆動開発の設計原則とベストプラクティス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2286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Yu Gothic"/>
              </a:defRPr>
            </a:pPr>
            <a:r>
              <a:t>CLAUDE.md は「ルールブック」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手順書ではなくルールの要約のみ（150行以内）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詳細手順はSkillsに移行しコスト最適化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73152" cy="2286000"/>
          </a:xfrm>
          <a:prstGeom prst="rect">
            <a:avLst/>
          </a:prstGeom>
          <a:solidFill>
            <a:srgbClr val="00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35E"/>
                </a:solidFill>
                <a:latin typeface="Yu Gothic"/>
              </a:defRPr>
            </a:pPr>
            <a:r>
              <a:t>「2回言ったら自動化する」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1回目: プロンプトで指示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2回目: Skill化 or Hook化を検討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毎回: Hook（自動実行）に昇格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4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3749040"/>
            <a:ext cx="73152" cy="2286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AIへの指示の最適粒度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×「いい感じにして」→ AIが迷走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○「サブスク解約の仕組みを作って」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×「45行目にif文追加」→ AI設計力を活かせず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74904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3749040"/>
            <a:ext cx="73152" cy="2286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Yu Gothic"/>
              </a:defRPr>
            </a:pPr>
            <a:r>
              <a:t>レビューの3観点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① 意図通りか（動作確認）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② 副作用がないか（テスト結果）</a:t>
            </a:r>
          </a:p>
          <a:p>
            <a:pPr>
              <a:spcAft>
                <a:spcPts val="75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③ 設計が妥当か（差分の俯瞰）</a:t>
            </a:r>
          </a:p>
        </p:txBody>
      </p:sp>
    </p:spTree>
    <p:extLst>
      <p:ext uri="{BB962C8B-B14F-4D97-AF65-F5344CB8AC3E}">
        <p14:creationId xmlns:p14="http://schemas.microsoft.com/office/powerpoint/2010/main" val="425388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t>よくある失敗パターン（アンチパターン）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2286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CLAUDE.md の肥大化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症状: 全手順を詰め込み毎セッション7,000bytes超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影響: トークンコスト26%増加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対策: 150行以内。詳細はSkillsへ移行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73152" cy="2286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Hookの過剰設定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症状: 全チェックをHookに入れ終了時5分超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影響: 開発の流れが止まる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対策: 必須チェックのみ。低頻度はAgent化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4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3749040"/>
            <a:ext cx="73152" cy="2286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AIに全てを任せる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症状: 「いい感じにリファクタリングして」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影響: 不要な変更、意図しないファイル修正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対策: 「何を」「なぜ」を明確に。「どう」はAIに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74904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3749040"/>
            <a:ext cx="73152" cy="2286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AIの出力を検証しない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症状: 生成コードをそのままコミット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影響: 実機UI崩れ、外部連携不具合の見逃し</a:t>
            </a:r>
          </a:p>
          <a:p>
            <a:pPr>
              <a:spcAft>
                <a:spcPts val="700"/>
              </a:spcAft>
              <a:defRPr sz="1400" b="0">
                <a:solidFill>
                  <a:srgbClr val="333333"/>
                </a:solidFill>
                <a:latin typeface="Yu Gothic"/>
              </a:defRPr>
            </a:pPr>
            <a:r>
              <a:t>対策: ローカル動作確認。UI操作性は人間が必ず確認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Yu Gothic"/>
              </a:defRPr>
            </a:pPr>
            <a:r>
              <a:rPr lang="en-US" dirty="0"/>
              <a:t>6</a:t>
            </a:r>
            <a:r>
              <a:rPr dirty="0"/>
              <a:t>. </a:t>
            </a:r>
            <a:r>
              <a:rPr dirty="0" err="1"/>
              <a:t>まとめ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2286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Yu Gothic"/>
              </a:defRPr>
            </a:pPr>
            <a:r>
              <a:t>開発生産性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3600" b="1">
                <a:solidFill>
                  <a:srgbClr val="007ACC"/>
                </a:solidFill>
                <a:latin typeface="Yu Gothic"/>
              </a:defRPr>
            </a:pPr>
            <a:r>
              <a:t>6〜9倍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の期間短縮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コード生産速度 23〜46倍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73152" cy="2286000"/>
          </a:xfrm>
          <a:prstGeom prst="rect">
            <a:avLst/>
          </a:prstGeom>
          <a:solidFill>
            <a:srgbClr val="00A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35E"/>
                </a:solidFill>
                <a:latin typeface="Yu Gothic"/>
              </a:defRPr>
            </a:pPr>
            <a:r>
              <a:t>品質向上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3600" b="1">
                <a:solidFill>
                  <a:srgbClr val="00A35E"/>
                </a:solidFill>
                <a:latin typeface="Yu Gothic"/>
              </a:defRPr>
            </a:pPr>
            <a:r>
              <a:t>813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テストケース自動生成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テスト密度 6倍以上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35661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73152" cy="2286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6C00"/>
                </a:solidFill>
                <a:latin typeface="Yu Gothic"/>
              </a:defRPr>
            </a:pPr>
            <a:r>
              <a:t>コスト最適化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3600" b="1">
                <a:solidFill>
                  <a:srgbClr val="E86C00"/>
                </a:solidFill>
                <a:latin typeface="Yu Gothic"/>
              </a:defRPr>
            </a:pPr>
            <a:r>
              <a:t>-73%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333333"/>
                </a:solidFill>
                <a:latin typeface="Yu Gothic"/>
              </a:defRPr>
            </a:pPr>
            <a:r>
              <a:t>トークンコスト削減</a:t>
            </a:r>
          </a:p>
          <a:p>
            <a:pPr algn="l">
              <a:spcAft>
                <a:spcPts val="700"/>
              </a:spcAft>
              <a:defRPr sz="1400" b="0">
                <a:solidFill>
                  <a:srgbClr val="666666"/>
                </a:solidFill>
                <a:latin typeface="Yu Gothic"/>
              </a:defRPr>
            </a:pPr>
            <a:r>
              <a:t>Level 5 最適化による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112471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73152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840479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Yu Gothic"/>
              </a:defRPr>
            </a:pPr>
            <a: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39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800" b="1">
                <a:solidFill>
                  <a:srgbClr val="1B3A5C"/>
                </a:solidFill>
                <a:latin typeface="Yu Gothic"/>
              </a:defRPr>
            </a:pPr>
            <a:r>
              <a:t>AI駆動開発は「スクラッチ開発」で最大の効果を発揮する</a:t>
            </a:r>
          </a:p>
          <a:p>
            <a:pPr algn="l">
              <a:spcAft>
                <a:spcPts val="700"/>
              </a:spcAft>
              <a:defRPr sz="600" b="0">
                <a:solidFill>
                  <a:srgbClr val="333333"/>
                </a:solidFill>
                <a:latin typeface="Yu Gothic"/>
              </a:defRPr>
            </a:pPr>
            <a:endParaRPr/>
          </a:p>
          <a:p>
            <a:pPr algn="l">
              <a:spcAft>
                <a:spcPts val="70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スクラッチ開発: コード生成〜テスト〜CI/CDまで全工程をAIが一貫支援。6〜9倍の期間短縮。</a:t>
            </a:r>
          </a:p>
          <a:p>
            <a:pPr algn="l">
              <a:spcAft>
                <a:spcPts val="700"/>
              </a:spcAft>
              <a:defRPr sz="1500" b="0">
                <a:solidFill>
                  <a:srgbClr val="333333"/>
                </a:solidFill>
                <a:latin typeface="Yu Gothic"/>
              </a:defRPr>
            </a:pPr>
            <a:r>
              <a:t>ローコード/ノーコード: コード生成の恩恵は限定的だが、設計レビュー・要件定義・ドキュメント作成では有効。</a:t>
            </a:r>
          </a:p>
          <a:p>
            <a:pPr algn="l">
              <a:spcAft>
                <a:spcPts val="700"/>
              </a:spcAft>
              <a:defRPr sz="600" b="0">
                <a:solidFill>
                  <a:srgbClr val="333333"/>
                </a:solidFill>
                <a:latin typeface="Yu Gothic"/>
              </a:defRPr>
            </a:pPr>
            <a:endParaRPr/>
          </a:p>
          <a:p>
            <a:pPr algn="l">
              <a:spcAft>
                <a:spcPts val="700"/>
              </a:spcAft>
              <a:defRPr sz="1500" b="1">
                <a:solidFill>
                  <a:srgbClr val="007ACC"/>
                </a:solidFill>
                <a:latin typeface="Yu Gothic"/>
              </a:defRPr>
            </a:pPr>
            <a:r>
              <a:t>AIは「人間の意思決定を高速に具現化するエンジン」。ビジョン・ドメイン設計・UX判断は引き続き人間の役割。</a:t>
            </a:r>
          </a:p>
        </p:txBody>
      </p:sp>
    </p:spTree>
    <p:extLst>
      <p:ext uri="{BB962C8B-B14F-4D97-AF65-F5344CB8AC3E}">
        <p14:creationId xmlns:p14="http://schemas.microsoft.com/office/powerpoint/2010/main" val="574259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solidFill>
            <a:srgbClr val="2E86AB"/>
          </a:solidFill>
          <a:ln>
            <a:solidFill>
              <a:srgbClr val="2E86A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補 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560320"/>
            <a:ext cx="11430000" cy="10972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1F3A5F"/>
                </a:solidFill>
                <a:latin typeface="Yu Gothic UI"/>
              </a:rPr>
              <a:t>補足: AI駆動開発の前提知識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749039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C757D"/>
                </a:solidFill>
                <a:latin typeface="Yu Gothic UI"/>
              </a:rPr>
              <a:t>〜 AIエージェント・他ツール比較・「成熟度レベル」の位置づけ 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Yu Gothic UI"/>
              </a:rPr>
              <a:t>本資料のここから先は、AI駆動開発をこれから学ぶ方向けの前提知識です。</a:t>
            </a:r>
          </a:p>
          <a:p>
            <a:pPr algn="ctr"/>
            <a:r>
              <a:rPr sz="1300" b="0">
                <a:solidFill>
                  <a:srgbClr val="212529"/>
                </a:solidFill>
                <a:latin typeface="Yu Gothic UI"/>
              </a:rPr>
              <a:t>・AIエージェントとは何か (従来のChatGPTとの違い)</a:t>
            </a:r>
          </a:p>
          <a:p>
            <a:pPr algn="ctr"/>
            <a:r>
              <a:rPr sz="1300" b="0">
                <a:solidFill>
                  <a:srgbClr val="212529"/>
                </a:solidFill>
                <a:latin typeface="Yu Gothic UI"/>
              </a:rPr>
              <a:t>・Claude Code 以外の主要AIコーディングエージェント</a:t>
            </a:r>
          </a:p>
          <a:p>
            <a:pPr algn="ctr"/>
            <a:r>
              <a:rPr sz="1300" b="0">
                <a:solidFill>
                  <a:srgbClr val="212529"/>
                </a:solidFill>
                <a:latin typeface="Yu Gothic UI"/>
              </a:rPr>
              <a:t>・本資料で用いた「成熟度レベル Level1-5」の業界的な位置づけ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Yu Gothic UI"/>
              </a:rPr>
              <a:t>AIタスクフォース 成果報告  |  Claude Code 成熟度レベル比較  |  p.13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Yu Gothic UI"/>
              </a:rPr>
              <a:t>補足①: AIエージェントとは何か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Yu Gothic UI"/>
              </a:rPr>
              <a:t>「目標を与えると自律的に行動するAIシステム」— 従来のチャットAIとの本質的な違い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731520"/>
          </a:xfrm>
          <a:prstGeom prst="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 UI"/>
              </a:rPr>
              <a:t>定義: 目標を与えられると、環境を認識し、ツールを使い、複数ステップで自律的に判断・実行するAIシステム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468880"/>
            <a:ext cx="3657600" cy="155448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/>
            <a:r>
              <a:rPr sz="1400" b="1">
                <a:solidFill>
                  <a:srgbClr val="1F3A5F"/>
                </a:solidFill>
                <a:latin typeface="Yu Gothic UI"/>
              </a:rPr>
              <a:t>① 目標指向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ゴールを与えられて動く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例: 「このバグを修正して」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→ 質問ではなく「依頼」を受ける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68880"/>
            <a:ext cx="3657600" cy="155448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/>
            <a:r>
              <a:rPr sz="1400" b="1">
                <a:solidFill>
                  <a:srgbClr val="1F3A5F"/>
                </a:solidFill>
                <a:latin typeface="Yu Gothic UI"/>
              </a:rPr>
              <a:t>② ツール使用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ファイル・API・コマンドを実行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例: Read / Write / Bash / Web検索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→ 実世界に働きかけられる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468880"/>
            <a:ext cx="3657600" cy="155448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/>
            <a:r>
              <a:rPr sz="1400" b="1">
                <a:solidFill>
                  <a:srgbClr val="1F3A5F"/>
                </a:solidFill>
                <a:latin typeface="Yu Gothic UI"/>
              </a:rPr>
              <a:t>③ 自律的ループ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結果を見て次の手を決定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例: テスト失敗→原因調査→修正→再実行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→ 人間の監督なしで進む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  <a:latin typeface="Yu Gothic UI"/>
              </a:rPr>
              <a:t>AI の進化 3段階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663440"/>
            <a:ext cx="11430000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第1世代 チャットボット (〜2022) : ルールベース / 定型応答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第2世代 対話型LLM   (2022〜)   : ChatGPT, Claude — 高度な言語理解、ただし「会話」止まり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第3世代 AIエージェント (2024〜) : 自律的に実行 — Claude Code, Cursor, Devin 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Yu Gothic UI"/>
              </a:rPr>
              <a:t>AIタスクフォース 成果報告  |  Claude Code 成熟度レベル比較  |  p.14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Yu Gothic UI"/>
              </a:rPr>
              <a:t>補足②: AIエージェントの動作原理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Yu Gothic UI"/>
              </a:rPr>
              <a:t>ReAct パターン — 観察→思考→行動→観察のループで目標達成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  <a:latin typeface="Yu Gothic UI"/>
              </a:rPr>
              <a:t>基本アーキテクチャ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5303520" cy="41148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① LLM (頭脳)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推論・計画・判断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Claude / GPT-4 等</a:t>
            </a:r>
          </a:p>
          <a:p>
            <a:pPr algn="l"/>
            <a:endParaRPr sz="1200" b="0">
              <a:solidFill>
                <a:srgbClr val="212529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② メモリ / コンテキスト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会話履歴・過去の行動結果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長期記憶 (RAG など)</a:t>
            </a:r>
          </a:p>
          <a:p>
            <a:pPr algn="l"/>
            <a:endParaRPr sz="1200" b="0">
              <a:solidFill>
                <a:srgbClr val="212529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③ ツール (手足)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Read / Write / Edit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Bash / Web検索 / API呼び出し</a:t>
            </a:r>
          </a:p>
          <a:p>
            <a:pPr algn="l"/>
            <a:endParaRPr sz="1200" b="0">
              <a:solidFill>
                <a:srgbClr val="212529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④ 実行ループ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   観察 → 思考 → 行動 → 観察 →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58521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  <a:latin typeface="Yu Gothic UI"/>
              </a:rPr>
              <a:t>具体例: 「バグを直して」と指示された場合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828800"/>
            <a:ext cx="822960" cy="914400"/>
          </a:xfrm>
          <a:prstGeom prst="rect">
            <a:avLst/>
          </a:prstGeom>
          <a:solidFill>
            <a:srgbClr val="2E86AB"/>
          </a:solidFill>
          <a:ln>
            <a:solidFill>
              <a:srgbClr val="2E86A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937760" cy="9144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観察: ユーザーから依頼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思考: エラーを確認しよう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行動: Bash("npm test")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880360"/>
            <a:ext cx="822960" cy="914400"/>
          </a:xfrm>
          <a:prstGeom prst="rect">
            <a:avLst/>
          </a:prstGeom>
          <a:solidFill>
            <a:srgbClr val="2E86AB"/>
          </a:solidFill>
          <a:ln>
            <a:solidFill>
              <a:srgbClr val="2E86A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80360"/>
            <a:ext cx="4937760" cy="9144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観察: auth.spec.js 失敗 "token undefined"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思考: auth.js が怪しい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行動: Read("src/auth.js")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931920"/>
            <a:ext cx="822960" cy="914400"/>
          </a:xfrm>
          <a:prstGeom prst="rect">
            <a:avLst/>
          </a:prstGeom>
          <a:solidFill>
            <a:srgbClr val="2E86AB"/>
          </a:solidFill>
          <a:ln>
            <a:solidFill>
              <a:srgbClr val="2E86A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Step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931920"/>
            <a:ext cx="4937760" cy="9144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観察: 15行目で process.env.TOKEN 未定義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思考: 修正しよう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行動: Edit("src/auth.js")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83480"/>
            <a:ext cx="822960" cy="914400"/>
          </a:xfrm>
          <a:prstGeom prst="rect">
            <a:avLst/>
          </a:prstGeom>
          <a:solidFill>
            <a:srgbClr val="2E86AB"/>
          </a:solidFill>
          <a:ln>
            <a:solidFill>
              <a:srgbClr val="2E86A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Step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983480"/>
            <a:ext cx="4937760" cy="9144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観察: 編集完了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思考: テスト再実行で確認</a:t>
            </a:r>
          </a:p>
          <a:p>
            <a:pPr algn="l"/>
            <a:r>
              <a:rPr sz="1000" b="0">
                <a:solidFill>
                  <a:srgbClr val="212529"/>
                </a:solidFill>
                <a:latin typeface="Yu Gothic UI"/>
              </a:rPr>
              <a:t>行動: Bash("npm test") → 成功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Yu Gothic UI"/>
              </a:rPr>
              <a:t>AIタスクフォース 成果報告  |  Claude Code 成熟度レベル比較  |  p.15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Yu Gothic UI"/>
              </a:rPr>
              <a:t>補足③: 主要 AI コーディングエージェント比較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Yu Gothic UI"/>
              </a:rPr>
              <a:t>Hooks + Subagents を両立しているのは Claude Code のみ (2026年4月時点)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 UI"/>
                        </a:rPr>
                        <a:t>エージェント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 UI"/>
                        </a:rPr>
                        <a:t>提供元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 UI"/>
                        </a:rPr>
                        <a:t>ルール定義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 UI"/>
                        </a:rPr>
                        <a:t>オンデマンド手順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 UI"/>
                        </a:rPr>
                        <a:t>自動化Hook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 UI"/>
                        </a:rPr>
                        <a:t>サブエージェント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12529"/>
                          </a:solidFill>
                          <a:latin typeface="Yu Gothic UI"/>
                        </a:rPr>
                        <a:t>Claude Code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12529"/>
                          </a:solidFill>
                          <a:latin typeface="Yu Gothic UI"/>
                        </a:rPr>
                        <a:t>Anthropic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12529"/>
                          </a:solidFill>
                          <a:latin typeface="Yu Gothic UI"/>
                        </a:rPr>
                        <a:t>CLAUDE.md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12529"/>
                          </a:solidFill>
                          <a:latin typeface="Yu Gothic UI"/>
                        </a:rPr>
                        <a:t>Skills / Commands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12529"/>
                          </a:solidFill>
                          <a:latin typeface="Yu Gothic UI"/>
                        </a:rPr>
                        <a:t>Hooks (強力)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12529"/>
                          </a:solidFill>
                          <a:latin typeface="Yu Gothic UI"/>
                        </a:rPr>
                        <a:t>Subagents (並列)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Cursor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Anysphere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.cursorrules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Custom Modes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Background (限定)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GitHub Copilot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GitHub/MS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copilot-inst.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Custom Instructions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Coding Agent (限定)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Windsurf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Codeium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.windsurfrules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Workflows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Cascade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Aider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CONVENTIONS.md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Custom Inst.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529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  <a:latin typeface="Yu Gothic UI"/>
              </a:rPr>
              <a:t>ポイント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212080"/>
            <a:ext cx="114300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・すべてのエージェントで「ルール定義」は可能 (Level 2 相当)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・「オンデマンド手順」対応は Claude Code / Cursor / Copilot / Windsurf (Level 3 相当)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・「Hook による自動化」を正式に持つのは現時点で Claude Code のみ (Level 4 相当)</a:t>
            </a:r>
          </a:p>
          <a:p>
            <a:pPr algn="l"/>
            <a:r>
              <a:rPr sz="1200" b="0">
                <a:solidFill>
                  <a:srgbClr val="212529"/>
                </a:solidFill>
                <a:latin typeface="Yu Gothic UI"/>
              </a:rPr>
              <a:t>・「並列サブエージェント」で独立レビューまでできるのも Claude Code の強み (Level 5 相当)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Yu Gothic UI"/>
              </a:rPr>
              <a:t>AIタスクフォース 成果報告  |  Claude Code 成熟度レベル比較  |  p.16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Yu Gothic UI"/>
              </a:rPr>
              <a:t>補足④: 本資料の「成熟度レベル」の位置づけ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Yu Gothic UI"/>
              </a:rPr>
              <a:t>⚠️ Anthropic公式ではなく、本プロジェクトで独自定義した段階導入フレームワーク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731520"/>
          </a:xfrm>
          <a:prstGeom prst="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重要: 「Level 1〜5」は Anthropic 公式用語ではありません。本プロジェクト独自の整理です。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468880"/>
            <a:ext cx="5577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Yu Gothic UI"/>
              </a:rPr>
              <a:t>✓ 業界で一般的な概念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5577840" cy="32004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・CLAUDE.md / .cursorrules 等のルール定義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・Skills / Custom Instructions 等の手順注入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・Hooks 等の自動化機構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・Subagent 等の並列実行</a:t>
            </a:r>
          </a:p>
          <a:p>
            <a:pPr algn="l"/>
            <a:endParaRPr sz="1100" b="0">
              <a:solidFill>
                <a:srgbClr val="212529"/>
              </a:solidFill>
              <a:latin typeface="Yu Gothic UI"/>
            </a:endParaRP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→ これらは多くのエージェントで類似機能あり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→ ただし「Level 1-5」という段階ラベルは業界標準ではない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68880"/>
            <a:ext cx="5577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Yu Gothic UI"/>
              </a:rPr>
              <a:t>✗ 本資料独自の整理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834640"/>
            <a:ext cx="5577840" cy="32004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・「Level 1-5」という段階ラベル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・各レベルに対応する機能の割り当て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・「レベルを上げる」という段階導入モデル</a:t>
            </a:r>
          </a:p>
          <a:p>
            <a:pPr algn="l"/>
            <a:endParaRPr sz="1100" b="0">
              <a:solidFill>
                <a:srgbClr val="212529"/>
              </a:solidFill>
              <a:latin typeface="Yu Gothic UI"/>
            </a:endParaRP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→ 元プロジェクト (GrowthEngine) の運用チームが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  段階的導入のために独自定義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→ 社内用語として使う分には問題ないが、</a:t>
            </a:r>
          </a:p>
          <a:p>
            <a:pPr algn="l"/>
            <a:r>
              <a:rPr sz="1100" b="0">
                <a:solidFill>
                  <a:srgbClr val="212529"/>
                </a:solidFill>
                <a:latin typeface="Yu Gothic UI"/>
              </a:rPr>
              <a:t>  社外と議論する際は注釈が必要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Yu Gothic UI"/>
              </a:rPr>
              <a:t>AIタスクフォース 成果報告  |  Claude Code 成熟度レベル比較  |  p.17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Yu Gothic UI"/>
              </a:rPr>
              <a:t>補足⑤: 前提知識のまとめ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Yu Gothic UI"/>
              </a:rPr>
              <a:t>本資料を正しく理解するための3つのポイント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554480"/>
            <a:ext cx="3749039" cy="411480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/>
            <a:r>
              <a:rPr sz="1400" b="1">
                <a:solidFill>
                  <a:srgbClr val="2E86AB"/>
                </a:solidFill>
                <a:latin typeface="Yu Gothic UI"/>
              </a:rPr>
              <a:t>① AI エージェントとは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目標を与えると自律的に行動するAI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ChatGPT が「会話」止まりだったのに対し、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ファイル編集・コマンド実行・API呼び出しまで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自律的にこなす次世代のAI。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554480"/>
            <a:ext cx="3749039" cy="411480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/>
            <a:r>
              <a:rPr sz="1400" b="1">
                <a:solidFill>
                  <a:srgbClr val="2E86AB"/>
                </a:solidFill>
                <a:latin typeface="Yu Gothic UI"/>
              </a:rPr>
              <a:t>② Claude Code の立ち位置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主要コーディングエージェントの中で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Hooks + Subagents の両方を持つのは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現時点で Claude Code のみ。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自動化と並列レビューで業界最先端。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554480"/>
            <a:ext cx="3749039" cy="411480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/>
            <a:r>
              <a:rPr sz="1400" b="1">
                <a:solidFill>
                  <a:srgbClr val="2E86AB"/>
                </a:solidFill>
                <a:latin typeface="Yu Gothic UI"/>
              </a:rPr>
              <a:t>③ 「成熟度レベル」の扱い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本資料の Level 1〜5 は本プロジェクト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独自の段階導入フレームワーク。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Anthropic 公式用語ではないが、</a:t>
            </a:r>
          </a:p>
          <a:p>
            <a:pPr algn="l"/>
            <a:r>
              <a:rPr sz="1100">
                <a:solidFill>
                  <a:srgbClr val="212529"/>
                </a:solidFill>
                <a:latin typeface="Yu Gothic UI"/>
              </a:rPr>
              <a:t>実用的で段階導入に適している。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Yu Gothic UI"/>
              </a:rPr>
              <a:t>本資料の Level 1〜5 は実用的な社内フレームワークとして活用し、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08076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F3A5F"/>
                </a:solidFill>
                <a:latin typeface="Yu Gothic UI"/>
              </a:rPr>
              <a:t>業界標準ではない点に留意しながら、他プロジェクトへの段階的展開を進める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Yu Gothic UI"/>
              </a:rPr>
              <a:t>AIタスクフォース 成果報告  |  Claude Code 成熟度レベル比較  |  p.18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0421B9C-1B81-414F-97C4-B6A9F5362FDE}"/>
              </a:ext>
            </a:extLst>
          </p:cNvPr>
          <p:cNvSpPr/>
          <p:nvPr/>
        </p:nvSpPr>
        <p:spPr>
          <a:xfrm>
            <a:off x="-52754" y="25400"/>
            <a:ext cx="12192000" cy="6858000"/>
          </a:xfrm>
          <a:prstGeom prst="rect">
            <a:avLst/>
          </a:prstGeom>
          <a:solidFill>
            <a:srgbClr val="1B3A5C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5C8D09-9D05-424B-B39C-C8DCDB71BEA3}"/>
              </a:ext>
            </a:extLst>
          </p:cNvPr>
          <p:cNvSpPr txBox="1"/>
          <p:nvPr/>
        </p:nvSpPr>
        <p:spPr>
          <a:xfrm>
            <a:off x="1016000" y="2476500"/>
            <a:ext cx="1016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ja-JP" altLang="en-US" sz="3600" b="1" dirty="0">
                <a:solidFill>
                  <a:srgbClr val="FFFFFF"/>
                </a:solidFill>
                <a:latin typeface="Yu Gothic"/>
                <a:ea typeface="Yu Gothic"/>
              </a:rPr>
              <a:t>ご清聴ありがとうございました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E713AE6-A59D-4782-AEBE-E2C1C05CE27F}"/>
              </a:ext>
            </a:extLst>
          </p:cNvPr>
          <p:cNvSpPr/>
          <p:nvPr/>
        </p:nvSpPr>
        <p:spPr>
          <a:xfrm>
            <a:off x="4826000" y="3429000"/>
            <a:ext cx="2540000" cy="25400"/>
          </a:xfrm>
          <a:prstGeom prst="rect">
            <a:avLst/>
          </a:prstGeom>
          <a:solidFill>
            <a:srgbClr val="BBCCD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FA51CC-081E-4332-8099-A599B261608C}"/>
              </a:ext>
            </a:extLst>
          </p:cNvPr>
          <p:cNvSpPr txBox="1"/>
          <p:nvPr/>
        </p:nvSpPr>
        <p:spPr>
          <a:xfrm>
            <a:off x="2286000" y="3746500"/>
            <a:ext cx="7620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ja-JP" sz="2000" dirty="0">
                <a:solidFill>
                  <a:srgbClr val="BBCCDD"/>
                </a:solidFill>
                <a:latin typeface="Yu Gothic"/>
                <a:ea typeface="Yu Gothic"/>
              </a:rPr>
              <a:t>Claude Code の成熟度レベル比較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3FFD1E4-5289-4588-AB4F-888AA1B87D01}"/>
              </a:ext>
            </a:extLst>
          </p:cNvPr>
          <p:cNvSpPr txBox="1"/>
          <p:nvPr/>
        </p:nvSpPr>
        <p:spPr>
          <a:xfrm>
            <a:off x="2286000" y="4381500"/>
            <a:ext cx="762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ja-JP" sz="1400" dirty="0">
                <a:solidFill>
                  <a:srgbClr val="778899"/>
                </a:solidFill>
                <a:latin typeface="Yu Gothic"/>
                <a:ea typeface="Yu Gothic"/>
              </a:rPr>
              <a:t>AIタスクフォース 成果報告 | 2026年4月</a:t>
            </a:r>
            <a:r>
              <a:rPr lang="en-US" altLang="ja-JP" sz="1400" dirty="0">
                <a:solidFill>
                  <a:srgbClr val="778899"/>
                </a:solidFill>
                <a:latin typeface="Yu Gothic"/>
                <a:ea typeface="Yu Gothic"/>
              </a:rPr>
              <a:t>15</a:t>
            </a:r>
            <a:r>
              <a:rPr lang="ja-JP" sz="1400" dirty="0">
                <a:solidFill>
                  <a:srgbClr val="778899"/>
                </a:solidFill>
                <a:latin typeface="Yu Gothic"/>
                <a:ea typeface="Yu Gothic"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98018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D73CF1C-A546-4BBA-A7C8-E22F02EA809B}">
  <we:reference id="f5f369e5-aa35-49d7-ad7b-638152ddb008" version="1.0.0.1" store="EXCatalog" storeType="EXCatalog"/>
  <we:alternateReferences>
    <we:reference id="WA200010001" version="1.0.0.1" store="ja-JP" storeType="OMEX"/>
  </we:alternateReferences>
  <we:properties>
    <we:property name="claude.fileId" value="&quot;e703ce31-9ca0-419c-86ee-b1ba2770a9f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1536</Words>
  <Application>Microsoft Office PowerPoint</Application>
  <PresentationFormat>ワイド画面</PresentationFormat>
  <Paragraphs>368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Yu Gothic UI</vt:lpstr>
      <vt:lpstr>Yu Gothic</vt:lpstr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Suyama Teppei</cp:lastModifiedBy>
  <cp:revision>7</cp:revision>
  <dcterms:created xsi:type="dcterms:W3CDTF">2013-01-27T09:14:16Z</dcterms:created>
  <dcterms:modified xsi:type="dcterms:W3CDTF">2026-04-14T23:12:38Z</dcterms:modified>
  <cp:category/>
</cp:coreProperties>
</file>